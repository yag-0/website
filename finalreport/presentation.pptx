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C77512-6EF8-42EC-A22F-31D952758A1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14119058-3D71-43DF-8FD1-15EC8287854F}">
      <dgm:prSet phldrT="[Текст]"/>
      <dgm:spPr/>
      <dgm:t>
        <a:bodyPr/>
        <a:lstStyle/>
        <a:p>
          <a:r>
            <a:rPr lang="en-US" dirty="0"/>
            <a:t>Client (</a:t>
          </a:r>
          <a:r>
            <a:rPr lang="uk-UA" dirty="0"/>
            <a:t>браузер)</a:t>
          </a:r>
        </a:p>
      </dgm:t>
    </dgm:pt>
    <dgm:pt modelId="{4CA07BB9-D0E6-4C07-BF5A-87E61167747B}" type="parTrans" cxnId="{329DFA50-8224-4927-B198-6C40C4172143}">
      <dgm:prSet/>
      <dgm:spPr/>
      <dgm:t>
        <a:bodyPr/>
        <a:lstStyle/>
        <a:p>
          <a:endParaRPr lang="uk-UA"/>
        </a:p>
      </dgm:t>
    </dgm:pt>
    <dgm:pt modelId="{F8D1A954-054B-4ECD-AF2C-F0C6D196BAAF}" type="sibTrans" cxnId="{329DFA50-8224-4927-B198-6C40C4172143}">
      <dgm:prSet/>
      <dgm:spPr/>
      <dgm:t>
        <a:bodyPr/>
        <a:lstStyle/>
        <a:p>
          <a:endParaRPr lang="uk-UA"/>
        </a:p>
      </dgm:t>
    </dgm:pt>
    <dgm:pt modelId="{A332E4D6-8BB3-4BB3-9C5D-36ACC0D82FC4}">
      <dgm:prSet phldrT="[Текст]"/>
      <dgm:spPr/>
      <dgm:t>
        <a:bodyPr/>
        <a:lstStyle/>
        <a:p>
          <a:r>
            <a:rPr lang="en-US" dirty="0"/>
            <a:t>Flask (routes + API)</a:t>
          </a:r>
          <a:endParaRPr lang="uk-UA" dirty="0"/>
        </a:p>
      </dgm:t>
    </dgm:pt>
    <dgm:pt modelId="{718C364B-B937-4F4E-82AD-708FA88A989B}" type="parTrans" cxnId="{DB566A5A-024F-42BB-8E16-200EE17199FB}">
      <dgm:prSet/>
      <dgm:spPr/>
      <dgm:t>
        <a:bodyPr/>
        <a:lstStyle/>
        <a:p>
          <a:endParaRPr lang="uk-UA"/>
        </a:p>
      </dgm:t>
    </dgm:pt>
    <dgm:pt modelId="{C7126178-A419-4F50-B7A9-15939F23C6DB}" type="sibTrans" cxnId="{DB566A5A-024F-42BB-8E16-200EE17199FB}">
      <dgm:prSet/>
      <dgm:spPr/>
      <dgm:t>
        <a:bodyPr/>
        <a:lstStyle/>
        <a:p>
          <a:endParaRPr lang="uk-UA"/>
        </a:p>
      </dgm:t>
    </dgm:pt>
    <dgm:pt modelId="{59822F3F-4A35-4C2B-86AE-05365484C887}">
      <dgm:prSet phldrT="[Текст]"/>
      <dgm:spPr/>
      <dgm:t>
        <a:bodyPr/>
        <a:lstStyle/>
        <a:p>
          <a:pPr>
            <a:buNone/>
          </a:pPr>
          <a:r>
            <a:rPr lang="en-US" dirty="0"/>
            <a:t>models.py </a:t>
          </a:r>
          <a:endParaRPr lang="uk-UA" dirty="0"/>
        </a:p>
      </dgm:t>
    </dgm:pt>
    <dgm:pt modelId="{D3FF78DC-418F-4462-B474-0A9C20AE3397}" type="parTrans" cxnId="{416D7710-20BF-42B9-B39B-C5AF5F343537}">
      <dgm:prSet/>
      <dgm:spPr/>
      <dgm:t>
        <a:bodyPr/>
        <a:lstStyle/>
        <a:p>
          <a:endParaRPr lang="uk-UA"/>
        </a:p>
      </dgm:t>
    </dgm:pt>
    <dgm:pt modelId="{5AB217AE-5596-41E5-A926-162B438653F0}" type="sibTrans" cxnId="{416D7710-20BF-42B9-B39B-C5AF5F343537}">
      <dgm:prSet/>
      <dgm:spPr/>
      <dgm:t>
        <a:bodyPr/>
        <a:lstStyle/>
        <a:p>
          <a:endParaRPr lang="uk-UA"/>
        </a:p>
      </dgm:t>
    </dgm:pt>
    <dgm:pt modelId="{CDDCF4D4-9383-4BC5-89DF-1D6D5121D03E}" type="pres">
      <dgm:prSet presAssocID="{FDC77512-6EF8-42EC-A22F-31D952758A1F}" presName="Name0" presStyleCnt="0">
        <dgm:presLayoutVars>
          <dgm:dir/>
          <dgm:resizeHandles val="exact"/>
        </dgm:presLayoutVars>
      </dgm:prSet>
      <dgm:spPr/>
    </dgm:pt>
    <dgm:pt modelId="{ECDE38C4-8809-49D7-A091-CB3AEE4BE40D}" type="pres">
      <dgm:prSet presAssocID="{14119058-3D71-43DF-8FD1-15EC8287854F}" presName="node" presStyleLbl="node1" presStyleIdx="0" presStyleCnt="3">
        <dgm:presLayoutVars>
          <dgm:bulletEnabled val="1"/>
        </dgm:presLayoutVars>
      </dgm:prSet>
      <dgm:spPr/>
    </dgm:pt>
    <dgm:pt modelId="{D32862EE-CBB9-49A5-BEFC-0ED2BB24F988}" type="pres">
      <dgm:prSet presAssocID="{F8D1A954-054B-4ECD-AF2C-F0C6D196BAAF}" presName="sibTrans" presStyleLbl="sibTrans2D1" presStyleIdx="0" presStyleCnt="2"/>
      <dgm:spPr/>
    </dgm:pt>
    <dgm:pt modelId="{10403301-6A00-4ED3-BFA0-BF4423AF9ACB}" type="pres">
      <dgm:prSet presAssocID="{F8D1A954-054B-4ECD-AF2C-F0C6D196BAAF}" presName="connectorText" presStyleLbl="sibTrans2D1" presStyleIdx="0" presStyleCnt="2"/>
      <dgm:spPr/>
    </dgm:pt>
    <dgm:pt modelId="{0BF0F153-6F83-44EA-BC29-F61D4BAFDA84}" type="pres">
      <dgm:prSet presAssocID="{A332E4D6-8BB3-4BB3-9C5D-36ACC0D82FC4}" presName="node" presStyleLbl="node1" presStyleIdx="1" presStyleCnt="3">
        <dgm:presLayoutVars>
          <dgm:bulletEnabled val="1"/>
        </dgm:presLayoutVars>
      </dgm:prSet>
      <dgm:spPr/>
    </dgm:pt>
    <dgm:pt modelId="{D938B656-3709-455D-8F95-67C1C4760324}" type="pres">
      <dgm:prSet presAssocID="{C7126178-A419-4F50-B7A9-15939F23C6DB}" presName="sibTrans" presStyleLbl="sibTrans2D1" presStyleIdx="1" presStyleCnt="2"/>
      <dgm:spPr/>
    </dgm:pt>
    <dgm:pt modelId="{C37FF16B-FDAB-40C6-B81F-91B44D3EA1B7}" type="pres">
      <dgm:prSet presAssocID="{C7126178-A419-4F50-B7A9-15939F23C6DB}" presName="connectorText" presStyleLbl="sibTrans2D1" presStyleIdx="1" presStyleCnt="2"/>
      <dgm:spPr/>
    </dgm:pt>
    <dgm:pt modelId="{5A2E4E7D-554E-4794-8523-1E4A55C331E6}" type="pres">
      <dgm:prSet presAssocID="{59822F3F-4A35-4C2B-86AE-05365484C887}" presName="node" presStyleLbl="node1" presStyleIdx="2" presStyleCnt="3">
        <dgm:presLayoutVars>
          <dgm:bulletEnabled val="1"/>
        </dgm:presLayoutVars>
      </dgm:prSet>
      <dgm:spPr/>
    </dgm:pt>
  </dgm:ptLst>
  <dgm:cxnLst>
    <dgm:cxn modelId="{416D7710-20BF-42B9-B39B-C5AF5F343537}" srcId="{FDC77512-6EF8-42EC-A22F-31D952758A1F}" destId="{59822F3F-4A35-4C2B-86AE-05365484C887}" srcOrd="2" destOrd="0" parTransId="{D3FF78DC-418F-4462-B474-0A9C20AE3397}" sibTransId="{5AB217AE-5596-41E5-A926-162B438653F0}"/>
    <dgm:cxn modelId="{D246BE3B-CC42-49A3-816B-54FB2620DCAA}" type="presOf" srcId="{F8D1A954-054B-4ECD-AF2C-F0C6D196BAAF}" destId="{D32862EE-CBB9-49A5-BEFC-0ED2BB24F988}" srcOrd="0" destOrd="0" presId="urn:microsoft.com/office/officeart/2005/8/layout/process1"/>
    <dgm:cxn modelId="{329DFA50-8224-4927-B198-6C40C4172143}" srcId="{FDC77512-6EF8-42EC-A22F-31D952758A1F}" destId="{14119058-3D71-43DF-8FD1-15EC8287854F}" srcOrd="0" destOrd="0" parTransId="{4CA07BB9-D0E6-4C07-BF5A-87E61167747B}" sibTransId="{F8D1A954-054B-4ECD-AF2C-F0C6D196BAAF}"/>
    <dgm:cxn modelId="{DB566A5A-024F-42BB-8E16-200EE17199FB}" srcId="{FDC77512-6EF8-42EC-A22F-31D952758A1F}" destId="{A332E4D6-8BB3-4BB3-9C5D-36ACC0D82FC4}" srcOrd="1" destOrd="0" parTransId="{718C364B-B937-4F4E-82AD-708FA88A989B}" sibTransId="{C7126178-A419-4F50-B7A9-15939F23C6DB}"/>
    <dgm:cxn modelId="{42747884-F03F-4C83-AA9F-92AE31861A3B}" type="presOf" srcId="{C7126178-A419-4F50-B7A9-15939F23C6DB}" destId="{D938B656-3709-455D-8F95-67C1C4760324}" srcOrd="0" destOrd="0" presId="urn:microsoft.com/office/officeart/2005/8/layout/process1"/>
    <dgm:cxn modelId="{1AB6598E-D8F5-4070-9302-B2DAEB686BD2}" type="presOf" srcId="{59822F3F-4A35-4C2B-86AE-05365484C887}" destId="{5A2E4E7D-554E-4794-8523-1E4A55C331E6}" srcOrd="0" destOrd="0" presId="urn:microsoft.com/office/officeart/2005/8/layout/process1"/>
    <dgm:cxn modelId="{76C65292-085A-482F-8685-28A10A47A93E}" type="presOf" srcId="{FDC77512-6EF8-42EC-A22F-31D952758A1F}" destId="{CDDCF4D4-9383-4BC5-89DF-1D6D5121D03E}" srcOrd="0" destOrd="0" presId="urn:microsoft.com/office/officeart/2005/8/layout/process1"/>
    <dgm:cxn modelId="{07BDA1B9-F62C-4970-86B9-6C90C060EB84}" type="presOf" srcId="{14119058-3D71-43DF-8FD1-15EC8287854F}" destId="{ECDE38C4-8809-49D7-A091-CB3AEE4BE40D}" srcOrd="0" destOrd="0" presId="urn:microsoft.com/office/officeart/2005/8/layout/process1"/>
    <dgm:cxn modelId="{A92BA2DD-25FD-4BAB-A0DF-32CC64FB567A}" type="presOf" srcId="{C7126178-A419-4F50-B7A9-15939F23C6DB}" destId="{C37FF16B-FDAB-40C6-B81F-91B44D3EA1B7}" srcOrd="1" destOrd="0" presId="urn:microsoft.com/office/officeart/2005/8/layout/process1"/>
    <dgm:cxn modelId="{325DBDEA-BBBD-43EF-95AD-E703B31C81C2}" type="presOf" srcId="{A332E4D6-8BB3-4BB3-9C5D-36ACC0D82FC4}" destId="{0BF0F153-6F83-44EA-BC29-F61D4BAFDA84}" srcOrd="0" destOrd="0" presId="urn:microsoft.com/office/officeart/2005/8/layout/process1"/>
    <dgm:cxn modelId="{0257A4EE-1F7F-4451-8D57-3B85178F9E20}" type="presOf" srcId="{F8D1A954-054B-4ECD-AF2C-F0C6D196BAAF}" destId="{10403301-6A00-4ED3-BFA0-BF4423AF9ACB}" srcOrd="1" destOrd="0" presId="urn:microsoft.com/office/officeart/2005/8/layout/process1"/>
    <dgm:cxn modelId="{1C22CF0B-7FF6-42A9-BA80-B95C2961648F}" type="presParOf" srcId="{CDDCF4D4-9383-4BC5-89DF-1D6D5121D03E}" destId="{ECDE38C4-8809-49D7-A091-CB3AEE4BE40D}" srcOrd="0" destOrd="0" presId="urn:microsoft.com/office/officeart/2005/8/layout/process1"/>
    <dgm:cxn modelId="{05E02F64-F70D-4E70-BB74-944BC38BAEDF}" type="presParOf" srcId="{CDDCF4D4-9383-4BC5-89DF-1D6D5121D03E}" destId="{D32862EE-CBB9-49A5-BEFC-0ED2BB24F988}" srcOrd="1" destOrd="0" presId="urn:microsoft.com/office/officeart/2005/8/layout/process1"/>
    <dgm:cxn modelId="{3A902FF0-FED7-41F5-83DE-DA178EDE07CB}" type="presParOf" srcId="{D32862EE-CBB9-49A5-BEFC-0ED2BB24F988}" destId="{10403301-6A00-4ED3-BFA0-BF4423AF9ACB}" srcOrd="0" destOrd="0" presId="urn:microsoft.com/office/officeart/2005/8/layout/process1"/>
    <dgm:cxn modelId="{7B5377CA-D0BA-4F0E-8663-07515DE9997F}" type="presParOf" srcId="{CDDCF4D4-9383-4BC5-89DF-1D6D5121D03E}" destId="{0BF0F153-6F83-44EA-BC29-F61D4BAFDA84}" srcOrd="2" destOrd="0" presId="urn:microsoft.com/office/officeart/2005/8/layout/process1"/>
    <dgm:cxn modelId="{9DAA6C96-C451-4D33-BBC3-594005D991E8}" type="presParOf" srcId="{CDDCF4D4-9383-4BC5-89DF-1D6D5121D03E}" destId="{D938B656-3709-455D-8F95-67C1C4760324}" srcOrd="3" destOrd="0" presId="urn:microsoft.com/office/officeart/2005/8/layout/process1"/>
    <dgm:cxn modelId="{2C99C5F3-E775-46F1-909B-E2309C556B03}" type="presParOf" srcId="{D938B656-3709-455D-8F95-67C1C4760324}" destId="{C37FF16B-FDAB-40C6-B81F-91B44D3EA1B7}" srcOrd="0" destOrd="0" presId="urn:microsoft.com/office/officeart/2005/8/layout/process1"/>
    <dgm:cxn modelId="{1A4E6FDF-C046-4C68-80A0-E9F0058ECC02}" type="presParOf" srcId="{CDDCF4D4-9383-4BC5-89DF-1D6D5121D03E}" destId="{5A2E4E7D-554E-4794-8523-1E4A55C331E6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C77512-6EF8-42EC-A22F-31D952758A1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14119058-3D71-43DF-8FD1-15EC8287854F}">
      <dgm:prSet phldrT="[Текст]"/>
      <dgm:spPr/>
      <dgm:t>
        <a:bodyPr/>
        <a:lstStyle/>
        <a:p>
          <a:r>
            <a:rPr lang="en-US"/>
            <a:t>models.py </a:t>
          </a:r>
          <a:endParaRPr lang="uk-UA" dirty="0"/>
        </a:p>
      </dgm:t>
    </dgm:pt>
    <dgm:pt modelId="{4CA07BB9-D0E6-4C07-BF5A-87E61167747B}" type="parTrans" cxnId="{329DFA50-8224-4927-B198-6C40C4172143}">
      <dgm:prSet/>
      <dgm:spPr/>
      <dgm:t>
        <a:bodyPr/>
        <a:lstStyle/>
        <a:p>
          <a:endParaRPr lang="uk-UA"/>
        </a:p>
      </dgm:t>
    </dgm:pt>
    <dgm:pt modelId="{F8D1A954-054B-4ECD-AF2C-F0C6D196BAAF}" type="sibTrans" cxnId="{329DFA50-8224-4927-B198-6C40C4172143}">
      <dgm:prSet/>
      <dgm:spPr/>
      <dgm:t>
        <a:bodyPr/>
        <a:lstStyle/>
        <a:p>
          <a:endParaRPr lang="uk-UA"/>
        </a:p>
      </dgm:t>
    </dgm:pt>
    <dgm:pt modelId="{A332E4D6-8BB3-4BB3-9C5D-36ACC0D82FC4}">
      <dgm:prSet phldrT="[Текст]"/>
      <dgm:spPr/>
      <dgm:t>
        <a:bodyPr/>
        <a:lstStyle/>
        <a:p>
          <a:r>
            <a:rPr lang="en-US" dirty="0"/>
            <a:t>SQLite</a:t>
          </a:r>
          <a:endParaRPr lang="uk-UA" dirty="0"/>
        </a:p>
      </dgm:t>
    </dgm:pt>
    <dgm:pt modelId="{718C364B-B937-4F4E-82AD-708FA88A989B}" type="parTrans" cxnId="{DB566A5A-024F-42BB-8E16-200EE17199FB}">
      <dgm:prSet/>
      <dgm:spPr/>
      <dgm:t>
        <a:bodyPr/>
        <a:lstStyle/>
        <a:p>
          <a:endParaRPr lang="uk-UA"/>
        </a:p>
      </dgm:t>
    </dgm:pt>
    <dgm:pt modelId="{C7126178-A419-4F50-B7A9-15939F23C6DB}" type="sibTrans" cxnId="{DB566A5A-024F-42BB-8E16-200EE17199FB}">
      <dgm:prSet/>
      <dgm:spPr/>
      <dgm:t>
        <a:bodyPr/>
        <a:lstStyle/>
        <a:p>
          <a:endParaRPr lang="uk-UA"/>
        </a:p>
      </dgm:t>
    </dgm:pt>
    <dgm:pt modelId="{59822F3F-4A35-4C2B-86AE-05365484C887}">
      <dgm:prSet phldrT="[Текст]"/>
      <dgm:spPr/>
      <dgm:t>
        <a:bodyPr/>
        <a:lstStyle/>
        <a:p>
          <a:pPr>
            <a:buNone/>
          </a:pPr>
          <a:r>
            <a:rPr lang="uk-UA" dirty="0"/>
            <a:t>повернення </a:t>
          </a:r>
          <a:r>
            <a:rPr lang="en-US" dirty="0"/>
            <a:t>HTML/JSON.</a:t>
          </a:r>
          <a:endParaRPr lang="uk-UA" dirty="0"/>
        </a:p>
      </dgm:t>
    </dgm:pt>
    <dgm:pt modelId="{D3FF78DC-418F-4462-B474-0A9C20AE3397}" type="parTrans" cxnId="{416D7710-20BF-42B9-B39B-C5AF5F343537}">
      <dgm:prSet/>
      <dgm:spPr/>
      <dgm:t>
        <a:bodyPr/>
        <a:lstStyle/>
        <a:p>
          <a:endParaRPr lang="uk-UA"/>
        </a:p>
      </dgm:t>
    </dgm:pt>
    <dgm:pt modelId="{5AB217AE-5596-41E5-A926-162B438653F0}" type="sibTrans" cxnId="{416D7710-20BF-42B9-B39B-C5AF5F343537}">
      <dgm:prSet/>
      <dgm:spPr/>
      <dgm:t>
        <a:bodyPr/>
        <a:lstStyle/>
        <a:p>
          <a:endParaRPr lang="uk-UA"/>
        </a:p>
      </dgm:t>
    </dgm:pt>
    <dgm:pt modelId="{CDDCF4D4-9383-4BC5-89DF-1D6D5121D03E}" type="pres">
      <dgm:prSet presAssocID="{FDC77512-6EF8-42EC-A22F-31D952758A1F}" presName="Name0" presStyleCnt="0">
        <dgm:presLayoutVars>
          <dgm:dir/>
          <dgm:resizeHandles val="exact"/>
        </dgm:presLayoutVars>
      </dgm:prSet>
      <dgm:spPr/>
    </dgm:pt>
    <dgm:pt modelId="{ECDE38C4-8809-49D7-A091-CB3AEE4BE40D}" type="pres">
      <dgm:prSet presAssocID="{14119058-3D71-43DF-8FD1-15EC8287854F}" presName="node" presStyleLbl="node1" presStyleIdx="0" presStyleCnt="3">
        <dgm:presLayoutVars>
          <dgm:bulletEnabled val="1"/>
        </dgm:presLayoutVars>
      </dgm:prSet>
      <dgm:spPr/>
    </dgm:pt>
    <dgm:pt modelId="{D32862EE-CBB9-49A5-BEFC-0ED2BB24F988}" type="pres">
      <dgm:prSet presAssocID="{F8D1A954-054B-4ECD-AF2C-F0C6D196BAAF}" presName="sibTrans" presStyleLbl="sibTrans2D1" presStyleIdx="0" presStyleCnt="2"/>
      <dgm:spPr/>
    </dgm:pt>
    <dgm:pt modelId="{10403301-6A00-4ED3-BFA0-BF4423AF9ACB}" type="pres">
      <dgm:prSet presAssocID="{F8D1A954-054B-4ECD-AF2C-F0C6D196BAAF}" presName="connectorText" presStyleLbl="sibTrans2D1" presStyleIdx="0" presStyleCnt="2"/>
      <dgm:spPr/>
    </dgm:pt>
    <dgm:pt modelId="{0BF0F153-6F83-44EA-BC29-F61D4BAFDA84}" type="pres">
      <dgm:prSet presAssocID="{A332E4D6-8BB3-4BB3-9C5D-36ACC0D82FC4}" presName="node" presStyleLbl="node1" presStyleIdx="1" presStyleCnt="3">
        <dgm:presLayoutVars>
          <dgm:bulletEnabled val="1"/>
        </dgm:presLayoutVars>
      </dgm:prSet>
      <dgm:spPr/>
    </dgm:pt>
    <dgm:pt modelId="{D938B656-3709-455D-8F95-67C1C4760324}" type="pres">
      <dgm:prSet presAssocID="{C7126178-A419-4F50-B7A9-15939F23C6DB}" presName="sibTrans" presStyleLbl="sibTrans2D1" presStyleIdx="1" presStyleCnt="2"/>
      <dgm:spPr/>
    </dgm:pt>
    <dgm:pt modelId="{C37FF16B-FDAB-40C6-B81F-91B44D3EA1B7}" type="pres">
      <dgm:prSet presAssocID="{C7126178-A419-4F50-B7A9-15939F23C6DB}" presName="connectorText" presStyleLbl="sibTrans2D1" presStyleIdx="1" presStyleCnt="2"/>
      <dgm:spPr/>
    </dgm:pt>
    <dgm:pt modelId="{5A2E4E7D-554E-4794-8523-1E4A55C331E6}" type="pres">
      <dgm:prSet presAssocID="{59822F3F-4A35-4C2B-86AE-05365484C887}" presName="node" presStyleLbl="node1" presStyleIdx="2" presStyleCnt="3">
        <dgm:presLayoutVars>
          <dgm:bulletEnabled val="1"/>
        </dgm:presLayoutVars>
      </dgm:prSet>
      <dgm:spPr/>
    </dgm:pt>
  </dgm:ptLst>
  <dgm:cxnLst>
    <dgm:cxn modelId="{416D7710-20BF-42B9-B39B-C5AF5F343537}" srcId="{FDC77512-6EF8-42EC-A22F-31D952758A1F}" destId="{59822F3F-4A35-4C2B-86AE-05365484C887}" srcOrd="2" destOrd="0" parTransId="{D3FF78DC-418F-4462-B474-0A9C20AE3397}" sibTransId="{5AB217AE-5596-41E5-A926-162B438653F0}"/>
    <dgm:cxn modelId="{D246BE3B-CC42-49A3-816B-54FB2620DCAA}" type="presOf" srcId="{F8D1A954-054B-4ECD-AF2C-F0C6D196BAAF}" destId="{D32862EE-CBB9-49A5-BEFC-0ED2BB24F988}" srcOrd="0" destOrd="0" presId="urn:microsoft.com/office/officeart/2005/8/layout/process1"/>
    <dgm:cxn modelId="{329DFA50-8224-4927-B198-6C40C4172143}" srcId="{FDC77512-6EF8-42EC-A22F-31D952758A1F}" destId="{14119058-3D71-43DF-8FD1-15EC8287854F}" srcOrd="0" destOrd="0" parTransId="{4CA07BB9-D0E6-4C07-BF5A-87E61167747B}" sibTransId="{F8D1A954-054B-4ECD-AF2C-F0C6D196BAAF}"/>
    <dgm:cxn modelId="{DB566A5A-024F-42BB-8E16-200EE17199FB}" srcId="{FDC77512-6EF8-42EC-A22F-31D952758A1F}" destId="{A332E4D6-8BB3-4BB3-9C5D-36ACC0D82FC4}" srcOrd="1" destOrd="0" parTransId="{718C364B-B937-4F4E-82AD-708FA88A989B}" sibTransId="{C7126178-A419-4F50-B7A9-15939F23C6DB}"/>
    <dgm:cxn modelId="{42747884-F03F-4C83-AA9F-92AE31861A3B}" type="presOf" srcId="{C7126178-A419-4F50-B7A9-15939F23C6DB}" destId="{D938B656-3709-455D-8F95-67C1C4760324}" srcOrd="0" destOrd="0" presId="urn:microsoft.com/office/officeart/2005/8/layout/process1"/>
    <dgm:cxn modelId="{1AB6598E-D8F5-4070-9302-B2DAEB686BD2}" type="presOf" srcId="{59822F3F-4A35-4C2B-86AE-05365484C887}" destId="{5A2E4E7D-554E-4794-8523-1E4A55C331E6}" srcOrd="0" destOrd="0" presId="urn:microsoft.com/office/officeart/2005/8/layout/process1"/>
    <dgm:cxn modelId="{76C65292-085A-482F-8685-28A10A47A93E}" type="presOf" srcId="{FDC77512-6EF8-42EC-A22F-31D952758A1F}" destId="{CDDCF4D4-9383-4BC5-89DF-1D6D5121D03E}" srcOrd="0" destOrd="0" presId="urn:microsoft.com/office/officeart/2005/8/layout/process1"/>
    <dgm:cxn modelId="{07BDA1B9-F62C-4970-86B9-6C90C060EB84}" type="presOf" srcId="{14119058-3D71-43DF-8FD1-15EC8287854F}" destId="{ECDE38C4-8809-49D7-A091-CB3AEE4BE40D}" srcOrd="0" destOrd="0" presId="urn:microsoft.com/office/officeart/2005/8/layout/process1"/>
    <dgm:cxn modelId="{A92BA2DD-25FD-4BAB-A0DF-32CC64FB567A}" type="presOf" srcId="{C7126178-A419-4F50-B7A9-15939F23C6DB}" destId="{C37FF16B-FDAB-40C6-B81F-91B44D3EA1B7}" srcOrd="1" destOrd="0" presId="urn:microsoft.com/office/officeart/2005/8/layout/process1"/>
    <dgm:cxn modelId="{325DBDEA-BBBD-43EF-95AD-E703B31C81C2}" type="presOf" srcId="{A332E4D6-8BB3-4BB3-9C5D-36ACC0D82FC4}" destId="{0BF0F153-6F83-44EA-BC29-F61D4BAFDA84}" srcOrd="0" destOrd="0" presId="urn:microsoft.com/office/officeart/2005/8/layout/process1"/>
    <dgm:cxn modelId="{0257A4EE-1F7F-4451-8D57-3B85178F9E20}" type="presOf" srcId="{F8D1A954-054B-4ECD-AF2C-F0C6D196BAAF}" destId="{10403301-6A00-4ED3-BFA0-BF4423AF9ACB}" srcOrd="1" destOrd="0" presId="urn:microsoft.com/office/officeart/2005/8/layout/process1"/>
    <dgm:cxn modelId="{1C22CF0B-7FF6-42A9-BA80-B95C2961648F}" type="presParOf" srcId="{CDDCF4D4-9383-4BC5-89DF-1D6D5121D03E}" destId="{ECDE38C4-8809-49D7-A091-CB3AEE4BE40D}" srcOrd="0" destOrd="0" presId="urn:microsoft.com/office/officeart/2005/8/layout/process1"/>
    <dgm:cxn modelId="{05E02F64-F70D-4E70-BB74-944BC38BAEDF}" type="presParOf" srcId="{CDDCF4D4-9383-4BC5-89DF-1D6D5121D03E}" destId="{D32862EE-CBB9-49A5-BEFC-0ED2BB24F988}" srcOrd="1" destOrd="0" presId="urn:microsoft.com/office/officeart/2005/8/layout/process1"/>
    <dgm:cxn modelId="{3A902FF0-FED7-41F5-83DE-DA178EDE07CB}" type="presParOf" srcId="{D32862EE-CBB9-49A5-BEFC-0ED2BB24F988}" destId="{10403301-6A00-4ED3-BFA0-BF4423AF9ACB}" srcOrd="0" destOrd="0" presId="urn:microsoft.com/office/officeart/2005/8/layout/process1"/>
    <dgm:cxn modelId="{7B5377CA-D0BA-4F0E-8663-07515DE9997F}" type="presParOf" srcId="{CDDCF4D4-9383-4BC5-89DF-1D6D5121D03E}" destId="{0BF0F153-6F83-44EA-BC29-F61D4BAFDA84}" srcOrd="2" destOrd="0" presId="urn:microsoft.com/office/officeart/2005/8/layout/process1"/>
    <dgm:cxn modelId="{9DAA6C96-C451-4D33-BBC3-594005D991E8}" type="presParOf" srcId="{CDDCF4D4-9383-4BC5-89DF-1D6D5121D03E}" destId="{D938B656-3709-455D-8F95-67C1C4760324}" srcOrd="3" destOrd="0" presId="urn:microsoft.com/office/officeart/2005/8/layout/process1"/>
    <dgm:cxn modelId="{2C99C5F3-E775-46F1-909B-E2309C556B03}" type="presParOf" srcId="{D938B656-3709-455D-8F95-67C1C4760324}" destId="{C37FF16B-FDAB-40C6-B81F-91B44D3EA1B7}" srcOrd="0" destOrd="0" presId="urn:microsoft.com/office/officeart/2005/8/layout/process1"/>
    <dgm:cxn modelId="{1A4E6FDF-C046-4C68-80A0-E9F0058ECC02}" type="presParOf" srcId="{CDDCF4D4-9383-4BC5-89DF-1D6D5121D03E}" destId="{5A2E4E7D-554E-4794-8523-1E4A55C331E6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DE38C4-8809-49D7-A091-CB3AEE4BE40D}">
      <dsp:nvSpPr>
        <dsp:cNvPr id="0" name=""/>
        <dsp:cNvSpPr/>
      </dsp:nvSpPr>
      <dsp:spPr>
        <a:xfrm>
          <a:off x="5304" y="1233942"/>
          <a:ext cx="1585543" cy="9513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Client (</a:t>
          </a:r>
          <a:r>
            <a:rPr lang="uk-UA" sz="2000" kern="1200" dirty="0"/>
            <a:t>браузер)</a:t>
          </a:r>
        </a:p>
      </dsp:txBody>
      <dsp:txXfrm>
        <a:off x="33167" y="1261805"/>
        <a:ext cx="1529817" cy="895600"/>
      </dsp:txXfrm>
    </dsp:sp>
    <dsp:sp modelId="{D32862EE-CBB9-49A5-BEFC-0ED2BB24F988}">
      <dsp:nvSpPr>
        <dsp:cNvPr id="0" name=""/>
        <dsp:cNvSpPr/>
      </dsp:nvSpPr>
      <dsp:spPr>
        <a:xfrm>
          <a:off x="1749402" y="1512998"/>
          <a:ext cx="336135" cy="3932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1600" kern="1200"/>
        </a:p>
      </dsp:txBody>
      <dsp:txXfrm>
        <a:off x="1749402" y="1591641"/>
        <a:ext cx="235295" cy="235928"/>
      </dsp:txXfrm>
    </dsp:sp>
    <dsp:sp modelId="{0BF0F153-6F83-44EA-BC29-F61D4BAFDA84}">
      <dsp:nvSpPr>
        <dsp:cNvPr id="0" name=""/>
        <dsp:cNvSpPr/>
      </dsp:nvSpPr>
      <dsp:spPr>
        <a:xfrm>
          <a:off x="2225065" y="1233942"/>
          <a:ext cx="1585543" cy="9513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Flask (routes + API)</a:t>
          </a:r>
          <a:endParaRPr lang="uk-UA" sz="2000" kern="1200" dirty="0"/>
        </a:p>
      </dsp:txBody>
      <dsp:txXfrm>
        <a:off x="2252928" y="1261805"/>
        <a:ext cx="1529817" cy="895600"/>
      </dsp:txXfrm>
    </dsp:sp>
    <dsp:sp modelId="{D938B656-3709-455D-8F95-67C1C4760324}">
      <dsp:nvSpPr>
        <dsp:cNvPr id="0" name=""/>
        <dsp:cNvSpPr/>
      </dsp:nvSpPr>
      <dsp:spPr>
        <a:xfrm>
          <a:off x="3969163" y="1512998"/>
          <a:ext cx="336135" cy="3932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1600" kern="1200"/>
        </a:p>
      </dsp:txBody>
      <dsp:txXfrm>
        <a:off x="3969163" y="1591641"/>
        <a:ext cx="235295" cy="235928"/>
      </dsp:txXfrm>
    </dsp:sp>
    <dsp:sp modelId="{5A2E4E7D-554E-4794-8523-1E4A55C331E6}">
      <dsp:nvSpPr>
        <dsp:cNvPr id="0" name=""/>
        <dsp:cNvSpPr/>
      </dsp:nvSpPr>
      <dsp:spPr>
        <a:xfrm>
          <a:off x="4444826" y="1233942"/>
          <a:ext cx="1585543" cy="9513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models.py </a:t>
          </a:r>
          <a:endParaRPr lang="uk-UA" sz="2000" kern="1200" dirty="0"/>
        </a:p>
      </dsp:txBody>
      <dsp:txXfrm>
        <a:off x="4472689" y="1261805"/>
        <a:ext cx="1529817" cy="8956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DE38C4-8809-49D7-A091-CB3AEE4BE40D}">
      <dsp:nvSpPr>
        <dsp:cNvPr id="0" name=""/>
        <dsp:cNvSpPr/>
      </dsp:nvSpPr>
      <dsp:spPr>
        <a:xfrm>
          <a:off x="5304" y="1233942"/>
          <a:ext cx="1585543" cy="9513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models.py </a:t>
          </a:r>
          <a:endParaRPr lang="uk-UA" sz="2100" kern="1200" dirty="0"/>
        </a:p>
      </dsp:txBody>
      <dsp:txXfrm>
        <a:off x="33167" y="1261805"/>
        <a:ext cx="1529817" cy="895600"/>
      </dsp:txXfrm>
    </dsp:sp>
    <dsp:sp modelId="{D32862EE-CBB9-49A5-BEFC-0ED2BB24F988}">
      <dsp:nvSpPr>
        <dsp:cNvPr id="0" name=""/>
        <dsp:cNvSpPr/>
      </dsp:nvSpPr>
      <dsp:spPr>
        <a:xfrm>
          <a:off x="1749402" y="1512998"/>
          <a:ext cx="336135" cy="3932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1600" kern="1200"/>
        </a:p>
      </dsp:txBody>
      <dsp:txXfrm>
        <a:off x="1749402" y="1591641"/>
        <a:ext cx="235295" cy="235928"/>
      </dsp:txXfrm>
    </dsp:sp>
    <dsp:sp modelId="{0BF0F153-6F83-44EA-BC29-F61D4BAFDA84}">
      <dsp:nvSpPr>
        <dsp:cNvPr id="0" name=""/>
        <dsp:cNvSpPr/>
      </dsp:nvSpPr>
      <dsp:spPr>
        <a:xfrm>
          <a:off x="2225065" y="1233942"/>
          <a:ext cx="1585543" cy="9513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SQLite</a:t>
          </a:r>
          <a:endParaRPr lang="uk-UA" sz="2100" kern="1200" dirty="0"/>
        </a:p>
      </dsp:txBody>
      <dsp:txXfrm>
        <a:off x="2252928" y="1261805"/>
        <a:ext cx="1529817" cy="895600"/>
      </dsp:txXfrm>
    </dsp:sp>
    <dsp:sp modelId="{D938B656-3709-455D-8F95-67C1C4760324}">
      <dsp:nvSpPr>
        <dsp:cNvPr id="0" name=""/>
        <dsp:cNvSpPr/>
      </dsp:nvSpPr>
      <dsp:spPr>
        <a:xfrm>
          <a:off x="3969163" y="1512998"/>
          <a:ext cx="336135" cy="3932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1600" kern="1200"/>
        </a:p>
      </dsp:txBody>
      <dsp:txXfrm>
        <a:off x="3969163" y="1591641"/>
        <a:ext cx="235295" cy="235928"/>
      </dsp:txXfrm>
    </dsp:sp>
    <dsp:sp modelId="{5A2E4E7D-554E-4794-8523-1E4A55C331E6}">
      <dsp:nvSpPr>
        <dsp:cNvPr id="0" name=""/>
        <dsp:cNvSpPr/>
      </dsp:nvSpPr>
      <dsp:spPr>
        <a:xfrm>
          <a:off x="4444826" y="1233942"/>
          <a:ext cx="1585543" cy="9513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kern="1200" dirty="0"/>
            <a:t>повернення </a:t>
          </a:r>
          <a:r>
            <a:rPr lang="en-US" sz="2100" kern="1200" dirty="0"/>
            <a:t>HTML/JSON.</a:t>
          </a:r>
          <a:endParaRPr lang="uk-UA" sz="2100" kern="1200" dirty="0"/>
        </a:p>
      </dsp:txBody>
      <dsp:txXfrm>
        <a:off x="4472689" y="1261805"/>
        <a:ext cx="1529817" cy="895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44D01B-FC4E-FB6C-5262-AAA289F4B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5F6F549F-E075-7172-5351-99ACA2EB5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BB1810B-FACB-0F02-7DD1-C6B3C09A7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FE37-F98E-459F-9C17-9F65018D5950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2765049-C687-6982-DDE1-1C2DBBCEC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95EC6DE-9E5E-658A-9C59-BB81B8A79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5B0C-81DA-479E-8B55-69BFAEFBB32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02605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C34D8C-46A3-D42A-98B4-EA53BE42A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CFA2451-8031-3764-5DFD-1F12145AD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FE87F9F-6A1E-CEE1-2F1A-E5E0A6131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FE37-F98E-459F-9C17-9F65018D5950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B8175E0-873D-4502-79E7-0447B8227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39DDC48-74E1-6C31-E0F8-48822A270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5B0C-81DA-479E-8B55-69BFAEFBB32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47868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D92BC4-8676-A798-8638-6FBBB9A65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9452C00-3418-9F67-8AAD-F65023840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A567D10-C344-4381-C51E-3B0CE605D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FE37-F98E-459F-9C17-9F65018D5950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13CAD74-CD2E-D02E-DE14-D5FAFA89D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A51D736-C91E-C54E-6E68-39BAF2059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5B0C-81DA-479E-8B55-69BFAEFBB32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89217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D04F19-7A51-4554-7849-DDEE0A23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2A31406-D06A-069B-6B99-D6459ADCEB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55EB4D0-B874-D9F6-6DBF-537755CD5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5843C69-9F9F-BB72-4611-BC2468669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FE37-F98E-459F-9C17-9F65018D5950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343930E-3131-12E9-7384-89C74C92A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402522C-D31D-D73A-4E07-C79B57584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5B0C-81DA-479E-8B55-69BFAEFBB32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59334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06E9D3-65C8-1704-BDF5-4CBC6F676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D4EB57A-F432-D013-5E85-4507411C1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5DC0FC8-BC8B-2F54-9261-F6F9F4D90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B9648082-D4B7-F417-76E9-7B2C926693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15BA7B04-DC55-FBA6-76B0-8B5630F904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8CDA2F0-FC5C-2928-5353-FEACCEC3C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FE37-F98E-459F-9C17-9F65018D5950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25580978-A1E2-F569-ACAE-4AD558ACE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BDD84A81-027E-F1AD-D3F6-E8C2B4809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5B0C-81DA-479E-8B55-69BFAEFBB32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83618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BD6297-1999-69E7-C30D-D8B7A3433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CAA6D1A0-E3CF-75FA-8BC3-7B9B02D93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FE37-F98E-459F-9C17-9F65018D5950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F766297F-12A6-33BB-F2C5-6E8787D15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34FA7330-24EC-C5DF-0B06-53AF8721E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5B0C-81DA-479E-8B55-69BFAEFBB32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63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04B23095-ECD4-2BC9-651D-3AC53664C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FE37-F98E-459F-9C17-9F65018D5950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AA7C0937-6D27-3EB1-0390-2D32848E1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9C8C4A1D-AE88-04B9-71EF-726C8257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5B0C-81DA-479E-8B55-69BFAEFBB32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6626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64BFFF-BF80-E414-D522-7DED574F6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33557A8-1C42-0B1C-52B7-904115023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6FF2172-3339-5F86-1A8C-DEDDDDA2C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D33890B-2903-5FE0-A654-EAAB184CD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FE37-F98E-459F-9C17-9F65018D5950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0E4B4D9-26FE-0C22-9D4F-32C1E112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DA03555-267D-2F7B-BD4C-C2EA27FAA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5B0C-81DA-479E-8B55-69BFAEFBB32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50037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2B0BB7-2D86-4FD7-64E9-F22A60D1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05EA4AFA-C6C7-CE12-74D2-8DAD0FAD31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7C653A5-ABE1-E69E-812C-21C08E4E9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F6DFA7E-5E04-1629-D7DB-68D08C171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FE37-F98E-459F-9C17-9F65018D5950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86B9A6D-BDA3-0FB0-6374-4296870D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B0DA77D-D69A-773D-4B9A-5C43122B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5B0C-81DA-479E-8B55-69BFAEFBB32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4724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27961A-271C-C4F5-4D39-60D0B310D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913367A-3702-F8C6-D4E7-FA18EC8B6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30553F9-1944-0341-1A2C-DB55FB34B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FE37-F98E-459F-9C17-9F65018D5950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0515B82-A5A1-F6DA-DEF7-33FFC1832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5503E52-788A-85D0-5925-CDA35B16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5B0C-81DA-479E-8B55-69BFAEFBB32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61591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E455B1B3-F9B5-4304-75C4-90B48FAB7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F9A4D66-05C3-F0F3-A682-D0BAB07FB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C20CC66-2014-028B-D6D2-1379C88F5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8FE37-F98E-459F-9C17-9F65018D5950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5D95FF4-1EAF-453A-C5DE-30957434F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27EB614-45D9-F1F5-FE2B-0DE06932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5B0C-81DA-479E-8B55-69BFAEFBB32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14077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298042B0-ADC1-242F-B24F-04279DEF0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0604064-E482-3241-B3BE-DB82469D7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DFBB8D2-9C74-774D-425A-466769683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8FE37-F98E-459F-9C17-9F65018D5950}" type="datetimeFigureOut">
              <a:rPr lang="uk-UA" smtClean="0"/>
              <a:t>14.12.2025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D74A165-51A6-37C3-39E9-D8E559E08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4D25F6F-BDB7-FD4E-BC31-CE76EDBA0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95B0C-81DA-479E-8B55-69BFAEFBB32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77550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d: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EAE48-AB2F-70D9-6065-427579FD6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67024"/>
            <a:ext cx="9144000" cy="1069975"/>
          </a:xfrm>
        </p:spPr>
        <p:txBody>
          <a:bodyPr/>
          <a:lstStyle/>
          <a:p>
            <a:r>
              <a:rPr lang="uk-UA" dirty="0"/>
              <a:t>Інтернет магазин</a:t>
            </a:r>
            <a:r>
              <a:rPr lang="en-US" dirty="0"/>
              <a:t> “</a:t>
            </a:r>
            <a:r>
              <a:rPr lang="en-US" dirty="0" err="1"/>
              <a:t>Etkaroz</a:t>
            </a:r>
            <a:r>
              <a:rPr lang="en-US" dirty="0"/>
              <a:t>”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2DF6E3C6-4D37-A5BF-BB2F-AD5C65511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0" y="6172200"/>
            <a:ext cx="6172200" cy="685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By:</a:t>
            </a:r>
            <a:r>
              <a:rPr lang="ru-RU" dirty="0"/>
              <a:t> </a:t>
            </a:r>
            <a:r>
              <a:rPr lang="uk-UA" dirty="0"/>
              <a:t>Кучерук Максим ІПЗ-21</a:t>
            </a:r>
            <a:br>
              <a:rPr lang="uk-UA" dirty="0"/>
            </a:br>
            <a:r>
              <a:rPr lang="uk-UA" dirty="0"/>
              <a:t>15.12.2025</a:t>
            </a:r>
          </a:p>
        </p:txBody>
      </p:sp>
    </p:spTree>
    <p:extLst>
      <p:ext uri="{BB962C8B-B14F-4D97-AF65-F5344CB8AC3E}">
        <p14:creationId xmlns:p14="http://schemas.microsoft.com/office/powerpoint/2010/main" val="2059702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B5473721-C77A-F211-93E3-B6FA583A0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Огляд</a:t>
            </a:r>
            <a:r>
              <a:rPr lang="uk-UA" sz="1400" b="1" dirty="0"/>
              <a:t>    </a:t>
            </a:r>
            <a:r>
              <a:rPr lang="uk-UA" b="1" dirty="0"/>
              <a:t>проблеми</a:t>
            </a:r>
            <a:br>
              <a:rPr lang="uk-UA" sz="1400" dirty="0"/>
            </a:b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3309697-F422-A504-0CFC-BB64B066E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uk-UA" dirty="0"/>
              <a:t>Проблема: онлайн-покупки електроніки часто плутають користувачів — немає прозорих описів, </a:t>
            </a:r>
            <a:r>
              <a:rPr lang="uk-UA" dirty="0" err="1"/>
              <a:t>промокоди</a:t>
            </a:r>
            <a:r>
              <a:rPr lang="uk-UA" dirty="0"/>
              <a:t> працюють нестабільно, відгуки розпорошені.</a:t>
            </a:r>
          </a:p>
          <a:p>
            <a:r>
              <a:rPr lang="uk-UA" dirty="0"/>
              <a:t>Цільова аудиторія: покупці електроніки та аксесуарів, малий і середній </a:t>
            </a:r>
            <a:r>
              <a:rPr lang="en-US" dirty="0"/>
              <a:t>e-commerce, </a:t>
            </a:r>
            <a:r>
              <a:rPr lang="uk-UA" dirty="0"/>
              <a:t>що хоче швидко запустити вітрину.</a:t>
            </a:r>
          </a:p>
          <a:p>
            <a:r>
              <a:rPr lang="uk-UA" dirty="0"/>
              <a:t>Актуальність: попит на прозорий і швидкий онлайн-шопінг зростає; бізнесу потрібен легкий старт без великих витрат на розробку.</a:t>
            </a:r>
          </a:p>
        </p:txBody>
      </p:sp>
    </p:spTree>
    <p:extLst>
      <p:ext uri="{BB962C8B-B14F-4D97-AF65-F5344CB8AC3E}">
        <p14:creationId xmlns:p14="http://schemas.microsoft.com/office/powerpoint/2010/main" val="1575840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8FCE4A-7F5E-C85C-087E-8B2D6939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Рішення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D9FCAE3-E0D8-11F2-59D5-3C29A06AB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uk-UA" dirty="0"/>
              <a:t>Опис: </a:t>
            </a:r>
            <a:r>
              <a:rPr lang="en-US" dirty="0" err="1"/>
              <a:t>Etkaroz</a:t>
            </a:r>
            <a:r>
              <a:rPr lang="en-US" dirty="0"/>
              <a:t> — </a:t>
            </a:r>
            <a:r>
              <a:rPr lang="uk-UA" dirty="0"/>
              <a:t>легка веб-вітрина з каталогом, кошиком, замовленнями, </a:t>
            </a:r>
            <a:r>
              <a:rPr lang="uk-UA" dirty="0" err="1"/>
              <a:t>промокодами</a:t>
            </a:r>
            <a:r>
              <a:rPr lang="uk-UA" dirty="0"/>
              <a:t> та відгуками, з готовими </a:t>
            </a:r>
            <a:r>
              <a:rPr lang="en-US" dirty="0"/>
              <a:t>API </a:t>
            </a:r>
            <a:r>
              <a:rPr lang="uk-UA" dirty="0"/>
              <a:t>та </a:t>
            </a:r>
            <a:r>
              <a:rPr lang="uk-UA" dirty="0" err="1"/>
              <a:t>адмінкою</a:t>
            </a:r>
            <a:r>
              <a:rPr lang="uk-UA" dirty="0"/>
              <a:t>.</a:t>
            </a:r>
          </a:p>
          <a:p>
            <a:r>
              <a:rPr lang="uk-UA" dirty="0"/>
              <a:t>Ключова цінність: швидкий запуск онлайн-продажів із мінімальними технічними зусиллями, прозорий </a:t>
            </a:r>
            <a:r>
              <a:rPr lang="en-US" dirty="0"/>
              <a:t>UX </a:t>
            </a:r>
            <a:r>
              <a:rPr lang="uk-UA" dirty="0"/>
              <a:t>для покупців.</a:t>
            </a:r>
          </a:p>
          <a:p>
            <a:r>
              <a:rPr lang="uk-UA" dirty="0"/>
              <a:t>Унікальні особливості:</a:t>
            </a:r>
          </a:p>
          <a:p>
            <a:pPr lvl="1"/>
            <a:r>
              <a:rPr lang="uk-UA" dirty="0" err="1"/>
              <a:t>Промокоди</a:t>
            </a:r>
            <a:r>
              <a:rPr lang="uk-UA" dirty="0"/>
              <a:t> та знижки «з коробки».</a:t>
            </a:r>
          </a:p>
          <a:p>
            <a:pPr lvl="1"/>
            <a:r>
              <a:rPr lang="uk-UA" dirty="0"/>
              <a:t>Відгуки від користувачів.</a:t>
            </a:r>
          </a:p>
          <a:p>
            <a:pPr lvl="1"/>
            <a:r>
              <a:rPr lang="uk-UA" dirty="0" err="1"/>
              <a:t>Адмін</a:t>
            </a:r>
            <a:r>
              <a:rPr lang="uk-UA" dirty="0"/>
              <a:t>-панель для керування товарами та замовленнями.</a:t>
            </a:r>
          </a:p>
          <a:p>
            <a:pPr lvl="1"/>
            <a:r>
              <a:rPr lang="uk-UA" dirty="0"/>
              <a:t>Публічне </a:t>
            </a:r>
            <a:r>
              <a:rPr lang="en-US" dirty="0"/>
              <a:t>API + Swagger-</a:t>
            </a:r>
            <a:r>
              <a:rPr lang="uk-UA" dirty="0"/>
              <a:t>документація.</a:t>
            </a:r>
          </a:p>
          <a:p>
            <a:pPr lvl="1"/>
            <a:r>
              <a:rPr lang="uk-UA" dirty="0"/>
              <a:t>Готовність до контейнерного </a:t>
            </a:r>
            <a:r>
              <a:rPr lang="uk-UA" dirty="0" err="1"/>
              <a:t>деплою</a:t>
            </a:r>
            <a:r>
              <a:rPr lang="uk-UA" dirty="0"/>
              <a:t> (</a:t>
            </a:r>
            <a:r>
              <a:rPr lang="en-US" dirty="0"/>
              <a:t>Docker).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25871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016EC5-6C10-40B2-0BE3-25D996D31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Технологічний стек</a:t>
            </a:r>
            <a:br>
              <a:rPr lang="uk-UA" dirty="0"/>
            </a:b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CAEC6F9-DA87-F270-561C-A1D5C5C4A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Frontend: HTML5, Tailwind CSS, </a:t>
            </a:r>
            <a:r>
              <a:rPr lang="uk-UA" dirty="0"/>
              <a:t>ванільний </a:t>
            </a:r>
            <a:r>
              <a:rPr lang="en-US" dirty="0"/>
              <a:t>JavaScript, Jinja2-</a:t>
            </a:r>
            <a:r>
              <a:rPr lang="uk-UA" dirty="0"/>
              <a:t>шаблони.</a:t>
            </a:r>
          </a:p>
          <a:p>
            <a:r>
              <a:rPr lang="en-US" dirty="0"/>
              <a:t>Backend: Python 3.11, Flask 3.0 (REST + </a:t>
            </a:r>
            <a:r>
              <a:rPr lang="uk-UA" dirty="0"/>
              <a:t>шаблони), </a:t>
            </a:r>
            <a:r>
              <a:rPr lang="en-US" dirty="0" err="1"/>
              <a:t>Flasgger</a:t>
            </a:r>
            <a:r>
              <a:rPr lang="en-US" dirty="0"/>
              <a:t>/Swagger </a:t>
            </a:r>
            <a:r>
              <a:rPr lang="uk-UA" dirty="0"/>
              <a:t>для </a:t>
            </a:r>
            <a:r>
              <a:rPr lang="en-US" dirty="0"/>
              <a:t>API-</a:t>
            </a:r>
            <a:r>
              <a:rPr lang="uk-UA" dirty="0" err="1"/>
              <a:t>доків</a:t>
            </a:r>
            <a:r>
              <a:rPr lang="uk-UA" dirty="0"/>
              <a:t>.</a:t>
            </a:r>
          </a:p>
          <a:p>
            <a:r>
              <a:rPr lang="uk-UA" dirty="0"/>
              <a:t>База даних: </a:t>
            </a:r>
            <a:r>
              <a:rPr lang="en-US" dirty="0"/>
              <a:t>SQLite (</a:t>
            </a:r>
            <a:r>
              <a:rPr lang="uk-UA" dirty="0"/>
              <a:t>простий старт; готовність міграції на </a:t>
            </a:r>
            <a:r>
              <a:rPr lang="en-US" dirty="0"/>
              <a:t>PostgreSQL).</a:t>
            </a:r>
          </a:p>
          <a:p>
            <a:r>
              <a:rPr lang="uk-UA" dirty="0"/>
              <a:t>Інші інструменти: </a:t>
            </a:r>
            <a:r>
              <a:rPr lang="en-US" dirty="0"/>
              <a:t>Git </a:t>
            </a:r>
            <a:r>
              <a:rPr lang="uk-UA" dirty="0"/>
              <a:t>для </a:t>
            </a:r>
            <a:r>
              <a:rPr lang="uk-UA" dirty="0" err="1"/>
              <a:t>версійності</a:t>
            </a:r>
            <a:r>
              <a:rPr lang="uk-UA" dirty="0"/>
              <a:t>, </a:t>
            </a:r>
            <a:r>
              <a:rPr lang="en-US" dirty="0"/>
              <a:t>Docker/Docker Compose </a:t>
            </a:r>
            <a:r>
              <a:rPr lang="uk-UA" dirty="0"/>
              <a:t>для контейнеризації, </a:t>
            </a:r>
            <a:r>
              <a:rPr lang="en-US" dirty="0"/>
              <a:t>Render (</a:t>
            </a:r>
            <a:r>
              <a:rPr lang="uk-UA" dirty="0"/>
              <a:t>контейнерний </a:t>
            </a:r>
            <a:r>
              <a:rPr lang="uk-UA" dirty="0" err="1"/>
              <a:t>деплой</a:t>
            </a:r>
            <a:r>
              <a:rPr lang="uk-UA" dirty="0"/>
              <a:t>), .</a:t>
            </a:r>
            <a:r>
              <a:rPr lang="en-US" dirty="0"/>
              <a:t>env </a:t>
            </a:r>
            <a:r>
              <a:rPr lang="uk-UA" dirty="0"/>
              <a:t>для секретів.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7985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320A8F-8BC4-8B47-C933-BDCF178E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Архітектура системи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448AB85-B0F3-38D3-49E4-1DA82DD47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uk-UA" dirty="0"/>
              <a:t>Діаграма (логічна):</a:t>
            </a:r>
            <a:br>
              <a:rPr lang="uk-UA" dirty="0"/>
            </a:br>
            <a:br>
              <a:rPr lang="uk-UA" dirty="0"/>
            </a:br>
            <a:br>
              <a:rPr lang="uk-UA" dirty="0"/>
            </a:br>
            <a:r>
              <a:rPr lang="en-US" dirty="0"/>
              <a:t>models.py</a:t>
            </a:r>
            <a:br>
              <a:rPr lang="uk-UA" dirty="0"/>
            </a:br>
            <a:br>
              <a:rPr lang="uk-UA" dirty="0"/>
            </a:br>
            <a:endParaRPr lang="uk-UA" dirty="0"/>
          </a:p>
          <a:p>
            <a:r>
              <a:rPr lang="uk-UA" dirty="0"/>
              <a:t>Основні компоненти:</a:t>
            </a:r>
          </a:p>
          <a:p>
            <a:pPr lvl="1"/>
            <a:r>
              <a:rPr lang="en-US" dirty="0"/>
              <a:t>Flask app (</a:t>
            </a:r>
            <a:r>
              <a:rPr lang="uk-UA" dirty="0"/>
              <a:t>маршрути сторінок і </a:t>
            </a:r>
            <a:r>
              <a:rPr lang="en-US" dirty="0"/>
              <a:t>REST API), </a:t>
            </a:r>
            <a:r>
              <a:rPr lang="uk-UA" dirty="0"/>
              <a:t>шаблони </a:t>
            </a:r>
            <a:r>
              <a:rPr lang="en-US" dirty="0"/>
              <a:t>Jinja2, </a:t>
            </a:r>
            <a:r>
              <a:rPr lang="uk-UA" dirty="0"/>
              <a:t>статичні </a:t>
            </a:r>
            <a:r>
              <a:rPr lang="en-US" dirty="0"/>
              <a:t>assets (Tailwind/JS).</a:t>
            </a:r>
          </a:p>
          <a:p>
            <a:pPr lvl="1"/>
            <a:r>
              <a:rPr lang="en-US" dirty="0"/>
              <a:t>Business logic: </a:t>
            </a:r>
            <a:r>
              <a:rPr lang="uk-UA" dirty="0"/>
              <a:t>кошик, замовлення, </a:t>
            </a:r>
            <a:r>
              <a:rPr lang="uk-UA" dirty="0" err="1"/>
              <a:t>промокоди</a:t>
            </a:r>
            <a:r>
              <a:rPr lang="uk-UA" dirty="0"/>
              <a:t>, відгуки, </a:t>
            </a:r>
            <a:r>
              <a:rPr lang="uk-UA" dirty="0" err="1"/>
              <a:t>валідація</a:t>
            </a:r>
            <a:r>
              <a:rPr lang="uk-UA" dirty="0"/>
              <a:t>, сесії.</a:t>
            </a:r>
          </a:p>
          <a:p>
            <a:pPr lvl="1"/>
            <a:r>
              <a:rPr lang="en-US" dirty="0"/>
              <a:t>Data layer: models.py </a:t>
            </a:r>
            <a:r>
              <a:rPr lang="uk-UA" dirty="0"/>
              <a:t>з </a:t>
            </a:r>
            <a:r>
              <a:rPr lang="en-US" dirty="0"/>
              <a:t>CRUD </a:t>
            </a:r>
            <a:r>
              <a:rPr lang="uk-UA" dirty="0"/>
              <a:t>до </a:t>
            </a:r>
            <a:r>
              <a:rPr lang="en-US" dirty="0"/>
              <a:t>SQLite (</a:t>
            </a:r>
            <a:r>
              <a:rPr lang="uk-UA" dirty="0"/>
              <a:t>готовність міграції на </a:t>
            </a:r>
            <a:r>
              <a:rPr lang="en-US" dirty="0"/>
              <a:t>PostgreSQL).</a:t>
            </a:r>
          </a:p>
          <a:p>
            <a:pPr lvl="1"/>
            <a:r>
              <a:rPr lang="en-US" dirty="0"/>
              <a:t>API docs: </a:t>
            </a:r>
            <a:r>
              <a:rPr lang="en-US" dirty="0" err="1"/>
              <a:t>Flasgger</a:t>
            </a:r>
            <a:r>
              <a:rPr lang="en-US" dirty="0"/>
              <a:t>/Swagger UI.</a:t>
            </a:r>
          </a:p>
          <a:p>
            <a:r>
              <a:rPr lang="uk-UA" dirty="0"/>
              <a:t>Взаємодія:</a:t>
            </a:r>
          </a:p>
          <a:p>
            <a:pPr lvl="1"/>
            <a:r>
              <a:rPr lang="uk-UA" dirty="0"/>
              <a:t>Клієнт робить </a:t>
            </a:r>
            <a:r>
              <a:rPr lang="en-US" dirty="0"/>
              <a:t>HTTP/HTTPS </a:t>
            </a:r>
            <a:r>
              <a:rPr lang="uk-UA" dirty="0"/>
              <a:t>запити.</a:t>
            </a:r>
          </a:p>
          <a:p>
            <a:pPr lvl="1"/>
            <a:r>
              <a:rPr lang="en-US" dirty="0"/>
              <a:t>Flask </a:t>
            </a:r>
            <a:r>
              <a:rPr lang="uk-UA" dirty="0"/>
              <a:t>обробляє маршрути, викликає бізнес-логіку, звертається до БД через </a:t>
            </a:r>
            <a:r>
              <a:rPr lang="en-US" dirty="0"/>
              <a:t>models.py.</a:t>
            </a:r>
          </a:p>
          <a:p>
            <a:pPr lvl="1"/>
            <a:r>
              <a:rPr lang="uk-UA" dirty="0"/>
              <a:t>Результат: </a:t>
            </a:r>
            <a:r>
              <a:rPr lang="en-US" dirty="0"/>
              <a:t>HTML (</a:t>
            </a:r>
            <a:r>
              <a:rPr lang="uk-UA" dirty="0"/>
              <a:t>для сторінок) або </a:t>
            </a:r>
            <a:r>
              <a:rPr lang="en-US" dirty="0"/>
              <a:t>JSON (</a:t>
            </a:r>
            <a:r>
              <a:rPr lang="uk-UA" dirty="0"/>
              <a:t>для </a:t>
            </a:r>
            <a:r>
              <a:rPr lang="en-US" dirty="0"/>
              <a:t>API), </a:t>
            </a:r>
            <a:r>
              <a:rPr lang="uk-UA" dirty="0"/>
              <a:t>збереження стану в сесіях/БД.</a:t>
            </a:r>
          </a:p>
          <a:p>
            <a:endParaRPr lang="uk-UA" dirty="0"/>
          </a:p>
        </p:txBody>
      </p:sp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83505366-C421-E98E-2FF5-6CAACE3506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4410261"/>
              </p:ext>
            </p:extLst>
          </p:nvPr>
        </p:nvGraphicFramePr>
        <p:xfrm>
          <a:off x="955675" y="1024731"/>
          <a:ext cx="6035675" cy="3419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81528179-0D44-5455-FE31-072E7F56B8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7675353"/>
              </p:ext>
            </p:extLst>
          </p:nvPr>
        </p:nvGraphicFramePr>
        <p:xfrm>
          <a:off x="5394325" y="1024731"/>
          <a:ext cx="6035675" cy="3419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19726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0269C-8580-F17C-5E60-1742DA3DB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Функціонал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6EA455D-C152-D562-4A0B-BEF71E9C9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474"/>
            <a:ext cx="9324975" cy="533717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uk-UA" sz="2400" dirty="0"/>
              <a:t>Частина сторінок:</a:t>
            </a:r>
          </a:p>
          <a:p>
            <a:r>
              <a:rPr lang="uk-UA" sz="2400" dirty="0"/>
              <a:t>Магазин товарів: перелік, фільтрація, деталі.</a:t>
            </a:r>
          </a:p>
          <a:p>
            <a:r>
              <a:rPr lang="uk-UA" sz="2400" dirty="0"/>
              <a:t>Кошик і замовлення: додавання/видалення товарів, застосування </a:t>
            </a:r>
            <a:r>
              <a:rPr lang="uk-UA" sz="2400" dirty="0" err="1"/>
              <a:t>промокодів</a:t>
            </a:r>
            <a:r>
              <a:rPr lang="uk-UA" sz="2400" dirty="0"/>
              <a:t>, оформлення.</a:t>
            </a:r>
          </a:p>
          <a:p>
            <a:r>
              <a:rPr lang="uk-UA" sz="2400" dirty="0"/>
              <a:t>Відгуки: перегляд і додавання відгуків до товарів.</a:t>
            </a:r>
          </a:p>
          <a:p>
            <a:r>
              <a:rPr lang="uk-UA" sz="2400" dirty="0" err="1"/>
              <a:t>Адмін</a:t>
            </a:r>
            <a:r>
              <a:rPr lang="uk-UA" sz="2400" dirty="0"/>
              <a:t>-панель: керування товарами, замовленнями, </a:t>
            </a:r>
            <a:r>
              <a:rPr lang="uk-UA" sz="2400" dirty="0" err="1"/>
              <a:t>промокодами</a:t>
            </a:r>
            <a:r>
              <a:rPr lang="uk-UA" sz="2400" dirty="0"/>
              <a:t>.</a:t>
            </a:r>
          </a:p>
          <a:p>
            <a:r>
              <a:rPr lang="en-US" sz="2400" dirty="0"/>
              <a:t>API + Swagger: </a:t>
            </a:r>
            <a:r>
              <a:rPr lang="uk-UA" sz="2400" dirty="0"/>
              <a:t>публічне </a:t>
            </a:r>
            <a:r>
              <a:rPr lang="en-US" sz="2400" dirty="0"/>
              <a:t>REST API </a:t>
            </a:r>
            <a:r>
              <a:rPr lang="uk-UA" sz="2400" dirty="0"/>
              <a:t>з живою документацією.</a:t>
            </a:r>
          </a:p>
          <a:p>
            <a:r>
              <a:rPr lang="uk-UA" sz="2400" dirty="0"/>
              <a:t>Здоров’я сервісу: </a:t>
            </a:r>
            <a:r>
              <a:rPr lang="en-US" sz="2400" dirty="0"/>
              <a:t>endpoint /health </a:t>
            </a:r>
            <a:r>
              <a:rPr lang="uk-UA" sz="2400" dirty="0"/>
              <a:t>для моніторингу.</a:t>
            </a:r>
            <a:br>
              <a:rPr lang="uk-UA" sz="2400" dirty="0"/>
            </a:br>
            <a:br>
              <a:rPr lang="uk-UA" sz="2400" dirty="0"/>
            </a:br>
            <a:r>
              <a:rPr lang="uk-UA" sz="2400" dirty="0"/>
              <a:t>Функції:</a:t>
            </a:r>
          </a:p>
          <a:p>
            <a:r>
              <a:rPr lang="uk-UA" sz="2400" dirty="0"/>
              <a:t>Магазин: швидкий пошук і перегляд характеристик.</a:t>
            </a:r>
          </a:p>
          <a:p>
            <a:r>
              <a:rPr lang="uk-UA" sz="2400" dirty="0"/>
              <a:t>Кошик/замовлення: розрахунок підсумку, </a:t>
            </a:r>
            <a:r>
              <a:rPr lang="uk-UA" sz="2400" dirty="0" err="1"/>
              <a:t>промокоди</a:t>
            </a:r>
            <a:r>
              <a:rPr lang="uk-UA" sz="2400" dirty="0"/>
              <a:t>, підтвердження.</a:t>
            </a:r>
          </a:p>
          <a:p>
            <a:r>
              <a:rPr lang="uk-UA" sz="2400" dirty="0"/>
              <a:t>Відгуки: соціальний доказ і покращення довіри.</a:t>
            </a:r>
          </a:p>
          <a:p>
            <a:r>
              <a:rPr lang="uk-UA" sz="2400" dirty="0" err="1"/>
              <a:t>Адмін</a:t>
            </a:r>
            <a:r>
              <a:rPr lang="uk-UA" sz="2400" dirty="0"/>
              <a:t>: оперативне оновлення цін, стоків, акцій.</a:t>
            </a:r>
          </a:p>
          <a:p>
            <a:r>
              <a:rPr lang="en-US" sz="2400" dirty="0"/>
              <a:t>API: </a:t>
            </a:r>
            <a:r>
              <a:rPr lang="uk-UA" sz="2400" dirty="0"/>
              <a:t>інтеграції з зовнішніми сервісами чи мобільними клієнтами.</a:t>
            </a:r>
          </a:p>
          <a:p>
            <a:r>
              <a:rPr lang="en-US" sz="2400" dirty="0" err="1"/>
              <a:t>Healthcheck</a:t>
            </a:r>
            <a:r>
              <a:rPr lang="en-US" sz="2400" dirty="0"/>
              <a:t>: </a:t>
            </a:r>
            <a:r>
              <a:rPr lang="uk-UA" sz="2400" dirty="0"/>
              <a:t>базовий сигнал для </a:t>
            </a:r>
            <a:r>
              <a:rPr lang="uk-UA" sz="2400" dirty="0" err="1"/>
              <a:t>деплой</a:t>
            </a:r>
            <a:r>
              <a:rPr lang="uk-UA" sz="2400" dirty="0"/>
              <a:t>/моніторингу.</a:t>
            </a:r>
          </a:p>
          <a:p>
            <a:endParaRPr lang="uk-UA" sz="1800" dirty="0"/>
          </a:p>
        </p:txBody>
      </p:sp>
    </p:spTree>
    <p:extLst>
      <p:ext uri="{BB962C8B-B14F-4D97-AF65-F5344CB8AC3E}">
        <p14:creationId xmlns:p14="http://schemas.microsoft.com/office/powerpoint/2010/main" val="1481079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23715E-FF6B-8F38-71E3-A0645F0A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Скріни</a:t>
            </a:r>
            <a:r>
              <a:rPr lang="uk-UA" dirty="0"/>
              <a:t> з сайту</a:t>
            </a: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9F378719-8371-9E43-3D2C-9862C464D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85024"/>
            <a:ext cx="4029847" cy="198773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56A1FF-AD89-338C-29E6-55715F7AB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049" y="1585024"/>
            <a:ext cx="4029847" cy="198452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7812AA7-7536-3435-4667-C772CEC9E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4396165"/>
            <a:ext cx="4029847" cy="209671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ECCCEF-7EE8-D497-9A07-5C29505BC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049" y="4396165"/>
            <a:ext cx="4029847" cy="209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24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0D320-0956-8439-8A7C-EA4A153B7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Нові функції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07D3833-DDFA-9956-25AD-D72895F38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/>
              <a:t>Оновленні відгуки:</a:t>
            </a:r>
            <a:br>
              <a:rPr lang="uk-UA" dirty="0"/>
            </a:br>
            <a:r>
              <a:rPr lang="uk-UA" dirty="0"/>
              <a:t>- були додані для покращення користувацького досвіду використання, підвищення рівня його довіри до продавця</a:t>
            </a:r>
            <a:br>
              <a:rPr lang="uk-UA" dirty="0"/>
            </a:br>
            <a:r>
              <a:rPr lang="uk-UA" dirty="0"/>
              <a:t>Зміна теми:</a:t>
            </a:r>
            <a:br>
              <a:rPr lang="uk-UA" dirty="0"/>
            </a:br>
            <a:r>
              <a:rPr lang="uk-UA" dirty="0"/>
              <a:t>- були додані для покращення користувацького досвіду використання.</a:t>
            </a:r>
          </a:p>
        </p:txBody>
      </p:sp>
    </p:spTree>
    <p:extLst>
      <p:ext uri="{BB962C8B-B14F-4D97-AF65-F5344CB8AC3E}">
        <p14:creationId xmlns:p14="http://schemas.microsoft.com/office/powerpoint/2010/main" val="553516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918FB9-41BA-A9D0-4D24-5FB5C47D6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</a:t>
            </a:r>
            <a:r>
              <a:rPr lang="ru-RU" dirty="0" err="1"/>
              <a:t>бази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FBFF4EA-3C07-CEF5-4444-661DC3C38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uk-UA" dirty="0"/>
              <a:t>Тип: </a:t>
            </a:r>
            <a:r>
              <a:rPr lang="en-US" dirty="0"/>
              <a:t>SQLite (</a:t>
            </a:r>
            <a:r>
              <a:rPr lang="uk-UA" dirty="0"/>
              <a:t>файлова БД для швидкого старту; міграція на </a:t>
            </a:r>
            <a:r>
              <a:rPr lang="en-US" dirty="0"/>
              <a:t>PostgreSQL — </a:t>
            </a:r>
            <a:r>
              <a:rPr lang="uk-UA" dirty="0"/>
              <a:t>без змін </a:t>
            </a:r>
            <a:r>
              <a:rPr lang="en-US" dirty="0"/>
              <a:t>API).</a:t>
            </a:r>
          </a:p>
          <a:p>
            <a:r>
              <a:rPr lang="uk-UA" dirty="0"/>
              <a:t>Таблиці:</a:t>
            </a:r>
          </a:p>
          <a:p>
            <a:pPr lvl="1"/>
            <a:r>
              <a:rPr lang="en-US" dirty="0"/>
              <a:t>products: id, name, description, price, stock, category, rating</a:t>
            </a:r>
          </a:p>
          <a:p>
            <a:pPr lvl="1"/>
            <a:r>
              <a:rPr lang="en-US" dirty="0"/>
              <a:t>orders: id, </a:t>
            </a:r>
            <a:r>
              <a:rPr lang="en-US" dirty="0" err="1"/>
              <a:t>customer_name</a:t>
            </a:r>
            <a:r>
              <a:rPr lang="en-US" dirty="0"/>
              <a:t>, email, </a:t>
            </a:r>
            <a:r>
              <a:rPr lang="en-US" dirty="0" err="1"/>
              <a:t>total_amount</a:t>
            </a:r>
            <a:r>
              <a:rPr lang="en-US" dirty="0"/>
              <a:t>, </a:t>
            </a:r>
            <a:r>
              <a:rPr lang="en-US" dirty="0" err="1"/>
              <a:t>created_at</a:t>
            </a:r>
            <a:r>
              <a:rPr lang="en-US" dirty="0"/>
              <a:t>, status</a:t>
            </a:r>
          </a:p>
          <a:p>
            <a:pPr lvl="1"/>
            <a:r>
              <a:rPr lang="en-US" dirty="0" err="1"/>
              <a:t>order_items</a:t>
            </a:r>
            <a:r>
              <a:rPr lang="en-US" dirty="0"/>
              <a:t>: id, </a:t>
            </a:r>
            <a:r>
              <a:rPr lang="en-US" dirty="0" err="1"/>
              <a:t>order_id</a:t>
            </a:r>
            <a:r>
              <a:rPr lang="en-US" dirty="0"/>
              <a:t> → orders.id, </a:t>
            </a:r>
            <a:r>
              <a:rPr lang="en-US" dirty="0" err="1"/>
              <a:t>product_id</a:t>
            </a:r>
            <a:r>
              <a:rPr lang="en-US" dirty="0"/>
              <a:t> → products.id, quantity, </a:t>
            </a:r>
            <a:r>
              <a:rPr lang="en-US" dirty="0" err="1"/>
              <a:t>unit_price</a:t>
            </a:r>
            <a:endParaRPr lang="en-US" dirty="0"/>
          </a:p>
          <a:p>
            <a:pPr lvl="1"/>
            <a:r>
              <a:rPr lang="en-US" dirty="0"/>
              <a:t>customers: id, name, email, phone, address</a:t>
            </a:r>
          </a:p>
          <a:p>
            <a:pPr lvl="1"/>
            <a:r>
              <a:rPr lang="en-US" dirty="0"/>
              <a:t>feedback: id, </a:t>
            </a:r>
            <a:r>
              <a:rPr lang="en-US" dirty="0" err="1"/>
              <a:t>product_id</a:t>
            </a:r>
            <a:r>
              <a:rPr lang="en-US" dirty="0"/>
              <a:t> → products.id, author, rating, comment, </a:t>
            </a:r>
            <a:r>
              <a:rPr lang="en-US" dirty="0" err="1"/>
              <a:t>created_at</a:t>
            </a:r>
            <a:endParaRPr lang="en-US" dirty="0"/>
          </a:p>
          <a:p>
            <a:pPr lvl="1"/>
            <a:r>
              <a:rPr lang="en-US" dirty="0" err="1"/>
              <a:t>promo_codes</a:t>
            </a:r>
            <a:r>
              <a:rPr lang="en-US" dirty="0"/>
              <a:t>: id, code, </a:t>
            </a:r>
            <a:r>
              <a:rPr lang="en-US" dirty="0" err="1"/>
              <a:t>discount_percent</a:t>
            </a:r>
            <a:r>
              <a:rPr lang="en-US" dirty="0"/>
              <a:t>/amount, </a:t>
            </a:r>
            <a:r>
              <a:rPr lang="en-US" dirty="0" err="1"/>
              <a:t>expires_at</a:t>
            </a:r>
            <a:r>
              <a:rPr lang="en-US" dirty="0"/>
              <a:t>, active</a:t>
            </a:r>
          </a:p>
          <a:p>
            <a:r>
              <a:rPr lang="uk-UA" dirty="0"/>
              <a:t>Зв’язки:</a:t>
            </a:r>
          </a:p>
          <a:p>
            <a:pPr lvl="1"/>
            <a:r>
              <a:rPr lang="en-US" dirty="0"/>
              <a:t>orders 1—N </a:t>
            </a:r>
            <a:r>
              <a:rPr lang="en-US" dirty="0" err="1"/>
              <a:t>order_items</a:t>
            </a:r>
            <a:endParaRPr lang="en-US" dirty="0"/>
          </a:p>
          <a:p>
            <a:pPr lvl="1"/>
            <a:r>
              <a:rPr lang="en-US" dirty="0"/>
              <a:t>products 1—N </a:t>
            </a:r>
            <a:r>
              <a:rPr lang="en-US" dirty="0" err="1"/>
              <a:t>order_items</a:t>
            </a:r>
            <a:r>
              <a:rPr lang="en-US" dirty="0"/>
              <a:t>, 1—N feedback</a:t>
            </a:r>
          </a:p>
          <a:p>
            <a:pPr lvl="1"/>
            <a:r>
              <a:rPr lang="en-US" dirty="0"/>
              <a:t>customers 1—N orders</a:t>
            </a:r>
          </a:p>
          <a:p>
            <a:r>
              <a:rPr lang="uk-UA" dirty="0"/>
              <a:t>Ключові особливості:</a:t>
            </a:r>
          </a:p>
          <a:p>
            <a:pPr lvl="1"/>
            <a:r>
              <a:rPr lang="en-US" dirty="0"/>
              <a:t>Foreign keys </a:t>
            </a:r>
            <a:r>
              <a:rPr lang="uk-UA" dirty="0"/>
              <a:t>увімкнені; каскадні обмеження на рівні застосунку.</a:t>
            </a:r>
          </a:p>
          <a:p>
            <a:pPr lvl="1"/>
            <a:r>
              <a:rPr lang="uk-UA" dirty="0"/>
              <a:t>Індекси: </a:t>
            </a:r>
            <a:r>
              <a:rPr lang="en-US" dirty="0"/>
              <a:t>products(name), orders(</a:t>
            </a:r>
            <a:r>
              <a:rPr lang="en-US" dirty="0" err="1"/>
              <a:t>created_at</a:t>
            </a:r>
            <a:r>
              <a:rPr lang="en-US" dirty="0"/>
              <a:t>), feedback(</a:t>
            </a:r>
            <a:r>
              <a:rPr lang="en-US" dirty="0" err="1"/>
              <a:t>product_id</a:t>
            </a:r>
            <a:r>
              <a:rPr lang="en-US" dirty="0"/>
              <a:t>).</a:t>
            </a:r>
          </a:p>
          <a:p>
            <a:pPr lvl="1"/>
            <a:r>
              <a:rPr lang="uk-UA" dirty="0"/>
              <a:t>Нормалізація: розділення замовлень і позицій; </a:t>
            </a:r>
            <a:r>
              <a:rPr lang="uk-UA" dirty="0" err="1"/>
              <a:t>промокоди</a:t>
            </a:r>
            <a:r>
              <a:rPr lang="uk-UA" dirty="0"/>
              <a:t> — окрема сутність.</a:t>
            </a:r>
          </a:p>
          <a:p>
            <a:r>
              <a:rPr lang="uk-UA" dirty="0"/>
              <a:t>Дані й безпека:</a:t>
            </a:r>
          </a:p>
          <a:p>
            <a:pPr lvl="1"/>
            <a:r>
              <a:rPr lang="uk-UA" dirty="0"/>
              <a:t>Транзакції </a:t>
            </a:r>
            <a:r>
              <a:rPr lang="en-US" dirty="0"/>
              <a:t>ACID; </a:t>
            </a:r>
            <a:r>
              <a:rPr lang="uk-UA" dirty="0" err="1"/>
              <a:t>валідація</a:t>
            </a:r>
            <a:r>
              <a:rPr lang="uk-UA" dirty="0"/>
              <a:t> на рівні </a:t>
            </a:r>
            <a:r>
              <a:rPr lang="uk-UA" dirty="0" err="1"/>
              <a:t>бекенду</a:t>
            </a:r>
            <a:r>
              <a:rPr lang="uk-UA" dirty="0"/>
              <a:t>.</a:t>
            </a:r>
          </a:p>
          <a:p>
            <a:pPr lvl="1"/>
            <a:r>
              <a:rPr lang="uk-UA" dirty="0"/>
              <a:t>Резервні копії: скрипт </a:t>
            </a:r>
            <a:r>
              <a:rPr lang="en-US" dirty="0"/>
              <a:t>manage_db.py (backup, vacuum, integrity check).</a:t>
            </a:r>
          </a:p>
          <a:p>
            <a:pPr marL="0" indent="0">
              <a:buNone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3357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7B8E0C-0B12-18CB-5B81-342ABE9FC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Endpoints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16A7770-9641-795F-9B58-64D692603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GET /</a:t>
            </a:r>
            <a:r>
              <a:rPr lang="en-US" dirty="0" err="1"/>
              <a:t>api</a:t>
            </a:r>
            <a:r>
              <a:rPr lang="en-US" dirty="0"/>
              <a:t>/products — </a:t>
            </a:r>
            <a:r>
              <a:rPr lang="uk-UA" dirty="0"/>
              <a:t>отримати список товарів</a:t>
            </a:r>
          </a:p>
          <a:p>
            <a:r>
              <a:rPr lang="en-US" dirty="0"/>
              <a:t>GET /</a:t>
            </a:r>
            <a:r>
              <a:rPr lang="en-US" dirty="0" err="1"/>
              <a:t>api</a:t>
            </a:r>
            <a:r>
              <a:rPr lang="en-US" dirty="0"/>
              <a:t>/products/:id — </a:t>
            </a:r>
            <a:r>
              <a:rPr lang="uk-UA" dirty="0"/>
              <a:t>отримати товар за </a:t>
            </a:r>
            <a:r>
              <a:rPr lang="en-US" dirty="0"/>
              <a:t>ID</a:t>
            </a:r>
          </a:p>
          <a:p>
            <a:r>
              <a:rPr lang="en-US" dirty="0"/>
              <a:t>POST /</a:t>
            </a:r>
            <a:r>
              <a:rPr lang="en-US" dirty="0" err="1"/>
              <a:t>api</a:t>
            </a:r>
            <a:r>
              <a:rPr lang="en-US" dirty="0"/>
              <a:t>/products — </a:t>
            </a:r>
            <a:r>
              <a:rPr lang="uk-UA" dirty="0"/>
              <a:t>створити новий товар</a:t>
            </a:r>
          </a:p>
          <a:p>
            <a:r>
              <a:rPr lang="en-US" dirty="0"/>
              <a:t>PUT /</a:t>
            </a:r>
            <a:r>
              <a:rPr lang="en-US" dirty="0" err="1"/>
              <a:t>api</a:t>
            </a:r>
            <a:r>
              <a:rPr lang="en-US" dirty="0"/>
              <a:t>/products/:id — </a:t>
            </a:r>
            <a:r>
              <a:rPr lang="uk-UA" dirty="0"/>
              <a:t>оновити товар</a:t>
            </a:r>
          </a:p>
          <a:p>
            <a:r>
              <a:rPr lang="en-US" dirty="0"/>
              <a:t>DELETE /</a:t>
            </a:r>
            <a:r>
              <a:rPr lang="en-US" dirty="0" err="1"/>
              <a:t>api</a:t>
            </a:r>
            <a:r>
              <a:rPr lang="en-US" dirty="0"/>
              <a:t>/products/:id — </a:t>
            </a:r>
            <a:r>
              <a:rPr lang="uk-UA" dirty="0"/>
              <a:t>видалити товар</a:t>
            </a:r>
          </a:p>
          <a:p>
            <a:r>
              <a:rPr lang="en-US" dirty="0"/>
              <a:t>GET /</a:t>
            </a:r>
            <a:r>
              <a:rPr lang="en-US" dirty="0" err="1"/>
              <a:t>api</a:t>
            </a:r>
            <a:r>
              <a:rPr lang="en-US" dirty="0"/>
              <a:t>/orders — </a:t>
            </a:r>
            <a:r>
              <a:rPr lang="uk-UA" dirty="0"/>
              <a:t>отримати список замовлень</a:t>
            </a:r>
          </a:p>
          <a:p>
            <a:r>
              <a:rPr lang="uk-UA" dirty="0"/>
              <a:t>…</a:t>
            </a:r>
            <a:endParaRPr lang="en-US" dirty="0"/>
          </a:p>
          <a:p>
            <a:r>
              <a:rPr lang="uk-UA" dirty="0"/>
              <a:t>Додатково:</a:t>
            </a:r>
          </a:p>
          <a:p>
            <a:r>
              <a:rPr lang="en-US" dirty="0"/>
              <a:t>GET /health — </a:t>
            </a:r>
            <a:r>
              <a:rPr lang="uk-UA" dirty="0"/>
              <a:t>перевірка стану сервісу (200 </a:t>
            </a:r>
            <a:r>
              <a:rPr lang="en-US" dirty="0"/>
              <a:t>OK)</a:t>
            </a:r>
          </a:p>
          <a:p>
            <a:r>
              <a:rPr lang="en-US" dirty="0"/>
              <a:t>Swagger UI: /</a:t>
            </a:r>
            <a:r>
              <a:rPr lang="en-US" dirty="0" err="1"/>
              <a:t>apidocs</a:t>
            </a:r>
            <a:r>
              <a:rPr lang="en-US" dirty="0"/>
              <a:t> — </a:t>
            </a:r>
            <a:r>
              <a:rPr lang="uk-UA" dirty="0"/>
              <a:t>інтерактивна документація </a:t>
            </a:r>
            <a:r>
              <a:rPr lang="en-US" dirty="0"/>
              <a:t>API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05958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F91D86F-B327-B6D2-06BE-39B98ADFE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uk-UA" dirty="0"/>
              <a:t>Залежності і сумісність:</a:t>
            </a:r>
          </a:p>
          <a:p>
            <a:pPr lvl="1"/>
            <a:r>
              <a:rPr lang="uk-UA" dirty="0"/>
              <a:t>Проблема: </a:t>
            </a:r>
            <a:r>
              <a:rPr lang="en-US" dirty="0" err="1">
                <a:hlinkClick r:id="rId2"/>
              </a:rPr>
              <a:t>rpds-py</a:t>
            </a:r>
            <a:r>
              <a:rPr lang="en-US" dirty="0"/>
              <a:t> </a:t>
            </a:r>
            <a:r>
              <a:rPr lang="uk-UA" dirty="0"/>
              <a:t>не мав готових </a:t>
            </a:r>
            <a:r>
              <a:rPr lang="en-US" dirty="0"/>
              <a:t>wheels </a:t>
            </a:r>
            <a:r>
              <a:rPr lang="uk-UA" dirty="0"/>
              <a:t>на </a:t>
            </a:r>
            <a:r>
              <a:rPr lang="en-US" dirty="0"/>
              <a:t>Render; pip </a:t>
            </a:r>
            <a:r>
              <a:rPr lang="uk-UA" dirty="0"/>
              <a:t>намагався збирати з </a:t>
            </a:r>
            <a:r>
              <a:rPr lang="en-US" dirty="0"/>
              <a:t>Rust → </a:t>
            </a:r>
            <a:r>
              <a:rPr lang="uk-UA" dirty="0"/>
              <a:t>падіння </a:t>
            </a:r>
            <a:r>
              <a:rPr lang="uk-UA" dirty="0" err="1"/>
              <a:t>білду</a:t>
            </a:r>
            <a:r>
              <a:rPr lang="uk-UA" dirty="0"/>
              <a:t>.</a:t>
            </a:r>
          </a:p>
          <a:p>
            <a:pPr lvl="1"/>
            <a:r>
              <a:rPr lang="uk-UA" dirty="0"/>
              <a:t>Рішення: оновили до </a:t>
            </a:r>
            <a:r>
              <a:rPr lang="en-US" dirty="0" err="1">
                <a:hlinkClick r:id="rId2"/>
              </a:rPr>
              <a:t>rpds-py</a:t>
            </a:r>
            <a:r>
              <a:rPr lang="en-US" dirty="0">
                <a:hlinkClick r:id="rId2"/>
              </a:rPr>
              <a:t>==0.28.0</a:t>
            </a:r>
            <a:r>
              <a:rPr lang="en-US" dirty="0"/>
              <a:t> (</a:t>
            </a:r>
            <a:r>
              <a:rPr lang="uk-UA" dirty="0"/>
              <a:t>є готові колеса); ввели </a:t>
            </a:r>
            <a:r>
              <a:rPr lang="en-US" dirty="0" err="1"/>
              <a:t>venv</a:t>
            </a:r>
            <a:r>
              <a:rPr lang="en-US" dirty="0"/>
              <a:t> </a:t>
            </a:r>
            <a:r>
              <a:rPr lang="uk-UA" dirty="0"/>
              <a:t>у </a:t>
            </a:r>
            <a:r>
              <a:rPr lang="en-US" dirty="0"/>
              <a:t>Docker (/opt/</a:t>
            </a:r>
            <a:r>
              <a:rPr lang="en-US" dirty="0" err="1"/>
              <a:t>venv</a:t>
            </a:r>
            <a:r>
              <a:rPr lang="en-US" dirty="0"/>
              <a:t>) </a:t>
            </a:r>
            <a:r>
              <a:rPr lang="uk-UA" dirty="0"/>
              <a:t>і використовуємо його в </a:t>
            </a:r>
            <a:r>
              <a:rPr lang="uk-UA" dirty="0" err="1"/>
              <a:t>рантаймі</a:t>
            </a:r>
            <a:r>
              <a:rPr lang="uk-UA" dirty="0"/>
              <a:t>.</a:t>
            </a:r>
          </a:p>
          <a:p>
            <a:pPr lvl="1"/>
            <a:r>
              <a:rPr lang="uk-UA" dirty="0"/>
              <a:t>Альтернатива: прибрати </a:t>
            </a:r>
            <a:r>
              <a:rPr lang="en-US" dirty="0" err="1">
                <a:hlinkClick r:id="rId2"/>
              </a:rPr>
              <a:t>rpds-py</a:t>
            </a:r>
            <a:r>
              <a:rPr lang="en-US" dirty="0"/>
              <a:t> </a:t>
            </a:r>
            <a:r>
              <a:rPr lang="uk-UA" dirty="0"/>
              <a:t>або замінити на іншу бібліотеку; перейти на повніший базовий образ (не </a:t>
            </a:r>
            <a:r>
              <a:rPr lang="en-US" dirty="0"/>
              <a:t>slim).</a:t>
            </a:r>
          </a:p>
          <a:p>
            <a:r>
              <a:rPr lang="uk-UA" dirty="0"/>
              <a:t>Контекст збірки </a:t>
            </a:r>
            <a:r>
              <a:rPr lang="en-US" dirty="0"/>
              <a:t>Docker:</a:t>
            </a:r>
          </a:p>
          <a:p>
            <a:pPr lvl="1"/>
            <a:r>
              <a:rPr lang="uk-UA" dirty="0"/>
              <a:t>Проблема: </a:t>
            </a:r>
            <a:r>
              <a:rPr lang="en-US" dirty="0"/>
              <a:t>Render </a:t>
            </a:r>
            <a:r>
              <a:rPr lang="uk-UA" dirty="0"/>
              <a:t>будував із кореня </a:t>
            </a:r>
            <a:r>
              <a:rPr lang="uk-UA" dirty="0" err="1"/>
              <a:t>репо</a:t>
            </a:r>
            <a:r>
              <a:rPr lang="uk-UA" dirty="0"/>
              <a:t>, а </a:t>
            </a:r>
            <a:r>
              <a:rPr lang="en-US" dirty="0" err="1">
                <a:hlinkClick r:id="rId2"/>
              </a:rPr>
              <a:t>Dockerfile</a:t>
            </a:r>
            <a:r>
              <a:rPr lang="en-US" dirty="0"/>
              <a:t> </a:t>
            </a:r>
            <a:r>
              <a:rPr lang="uk-UA" dirty="0"/>
              <a:t>спочатку очікував файли у </a:t>
            </a:r>
            <a:r>
              <a:rPr lang="uk-UA" dirty="0" err="1"/>
              <a:t>підпапці</a:t>
            </a:r>
            <a:r>
              <a:rPr lang="uk-UA" dirty="0"/>
              <a:t> → </a:t>
            </a:r>
            <a:r>
              <a:rPr lang="en-US" dirty="0"/>
              <a:t>requirements.txt not found.</a:t>
            </a:r>
          </a:p>
          <a:p>
            <a:pPr lvl="1"/>
            <a:r>
              <a:rPr lang="uk-UA" dirty="0"/>
              <a:t>Рішення: зробили </a:t>
            </a:r>
            <a:r>
              <a:rPr lang="en-US" dirty="0" err="1">
                <a:hlinkClick r:id="rId2"/>
              </a:rPr>
              <a:t>Dockerfile</a:t>
            </a:r>
            <a:r>
              <a:rPr lang="en-US" dirty="0"/>
              <a:t> </a:t>
            </a:r>
            <a:r>
              <a:rPr lang="uk-UA" dirty="0"/>
              <a:t>контекст-агностичним (копіюємо весь контекст у </a:t>
            </a:r>
            <a:r>
              <a:rPr lang="en-US" dirty="0"/>
              <a:t>builder, </a:t>
            </a:r>
            <a:r>
              <a:rPr lang="uk-UA" dirty="0"/>
              <a:t>авто-</a:t>
            </a:r>
            <a:r>
              <a:rPr lang="uk-UA" dirty="0" err="1"/>
              <a:t>детект</a:t>
            </a:r>
            <a:r>
              <a:rPr lang="uk-UA" dirty="0"/>
              <a:t> шляху до </a:t>
            </a:r>
            <a:r>
              <a:rPr lang="en-US" dirty="0">
                <a:hlinkClick r:id="rId2"/>
              </a:rPr>
              <a:t>requirements.txt</a:t>
            </a:r>
            <a:r>
              <a:rPr lang="en-US" dirty="0"/>
              <a:t>, </a:t>
            </a:r>
            <a:r>
              <a:rPr lang="uk-UA" dirty="0" err="1"/>
              <a:t>стаджимо</a:t>
            </a:r>
            <a:r>
              <a:rPr lang="uk-UA" dirty="0"/>
              <a:t> код у /</a:t>
            </a:r>
            <a:r>
              <a:rPr lang="en-US" dirty="0"/>
              <a:t>opt/</a:t>
            </a:r>
            <a:r>
              <a:rPr lang="en-US" dirty="0" err="1"/>
              <a:t>appsrc</a:t>
            </a:r>
            <a:r>
              <a:rPr lang="en-US" dirty="0"/>
              <a:t>).</a:t>
            </a:r>
          </a:p>
          <a:p>
            <a:pPr lvl="1"/>
            <a:r>
              <a:rPr lang="uk-UA" dirty="0"/>
              <a:t>Альтернатива: чітко фіксувати </a:t>
            </a:r>
            <a:r>
              <a:rPr lang="en-US" dirty="0"/>
              <a:t>Root Directory = </a:t>
            </a:r>
            <a:r>
              <a:rPr lang="en-US" dirty="0">
                <a:hlinkClick r:id="rId2"/>
              </a:rPr>
              <a:t>lab03-flaskProject</a:t>
            </a:r>
            <a:r>
              <a:rPr lang="en-US" dirty="0"/>
              <a:t> </a:t>
            </a:r>
            <a:r>
              <a:rPr lang="uk-UA" dirty="0"/>
              <a:t>і прості локальні шляхи (</a:t>
            </a:r>
            <a:r>
              <a:rPr lang="en-US" dirty="0"/>
              <a:t>COPY . .).</a:t>
            </a:r>
          </a:p>
          <a:p>
            <a:r>
              <a:rPr lang="uk-UA" dirty="0"/>
              <a:t>Порт і </a:t>
            </a:r>
            <a:r>
              <a:rPr lang="en-US" dirty="0" err="1"/>
              <a:t>healthcheck</a:t>
            </a:r>
            <a:r>
              <a:rPr lang="en-US" dirty="0"/>
              <a:t>:</a:t>
            </a:r>
          </a:p>
          <a:p>
            <a:r>
              <a:rPr lang="uk-UA" dirty="0"/>
              <a:t>Проблема: у хостингах порт динамічний ($</a:t>
            </a:r>
            <a:r>
              <a:rPr lang="en-US" dirty="0"/>
              <a:t>PORT), </a:t>
            </a:r>
            <a:r>
              <a:rPr lang="uk-UA" dirty="0"/>
              <a:t>а </a:t>
            </a:r>
            <a:r>
              <a:rPr lang="en-US" dirty="0"/>
              <a:t>Flask </a:t>
            </a:r>
            <a:r>
              <a:rPr lang="uk-UA" dirty="0"/>
              <a:t>слухає 5000; </a:t>
            </a:r>
            <a:r>
              <a:rPr lang="en-US" dirty="0" err="1"/>
              <a:t>healthcheck</a:t>
            </a:r>
            <a:r>
              <a:rPr lang="en-US" dirty="0"/>
              <a:t> </a:t>
            </a:r>
            <a:r>
              <a:rPr lang="uk-UA" dirty="0"/>
              <a:t>чекає старту.</a:t>
            </a:r>
          </a:p>
          <a:p>
            <a:r>
              <a:rPr lang="uk-UA" dirty="0"/>
              <a:t>Рішення: </a:t>
            </a:r>
            <a:r>
              <a:rPr lang="en-US" dirty="0"/>
              <a:t>EXPOSE 5000, </a:t>
            </a:r>
            <a:r>
              <a:rPr lang="uk-UA" dirty="0"/>
              <a:t>контроль запуску в контейнері; за потреби — </a:t>
            </a:r>
            <a:r>
              <a:rPr lang="en-US" dirty="0" err="1"/>
              <a:t>gunicorn</a:t>
            </a:r>
            <a:r>
              <a:rPr lang="en-US" dirty="0"/>
              <a:t> </a:t>
            </a:r>
            <a:r>
              <a:rPr lang="uk-UA" dirty="0"/>
              <a:t>із $</a:t>
            </a:r>
            <a:r>
              <a:rPr lang="en-US" dirty="0"/>
              <a:t>PORT.</a:t>
            </a:r>
          </a:p>
          <a:p>
            <a:r>
              <a:rPr lang="uk-UA" dirty="0"/>
              <a:t>Альтернатива: </a:t>
            </a:r>
            <a:r>
              <a:rPr lang="en-US" dirty="0"/>
              <a:t>reverse proxy (Nginx) </a:t>
            </a:r>
            <a:r>
              <a:rPr lang="uk-UA" dirty="0"/>
              <a:t>або платформа з авто-</a:t>
            </a:r>
            <a:r>
              <a:rPr lang="uk-UA" dirty="0" err="1"/>
              <a:t>біндінгом</a:t>
            </a:r>
            <a:r>
              <a:rPr lang="uk-UA" dirty="0"/>
              <a:t> порту.</a:t>
            </a:r>
          </a:p>
          <a:p>
            <a:pPr marL="457200" lvl="1" indent="0">
              <a:buNone/>
            </a:pPr>
            <a:br>
              <a:rPr lang="en-US" dirty="0"/>
            </a:br>
            <a:endParaRPr lang="uk-UA" dirty="0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C063FA8-6D51-7142-2C8C-97E91C931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Технічні виклики</a:t>
            </a:r>
          </a:p>
        </p:txBody>
      </p:sp>
    </p:spTree>
    <p:extLst>
      <p:ext uri="{BB962C8B-B14F-4D97-AF65-F5344CB8AC3E}">
        <p14:creationId xmlns:p14="http://schemas.microsoft.com/office/powerpoint/2010/main" val="2953399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47A59-47FD-9E99-BC81-6FF6BE4FB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Цікаві технічні рішення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527D0AC-15EB-1E27-14DC-42CE6AC77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24" y="1558925"/>
            <a:ext cx="5210175" cy="50668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uk-UA" sz="1200" dirty="0"/>
              <a:t>— Приклад 1 —</a:t>
            </a:r>
          </a:p>
          <a:p>
            <a:pPr marL="0" indent="0">
              <a:buNone/>
            </a:pPr>
            <a:r>
              <a:rPr lang="uk-UA" sz="1200" dirty="0"/>
              <a:t>Код: </a:t>
            </a:r>
            <a:r>
              <a:rPr lang="uk-UA" sz="1200" dirty="0" err="1"/>
              <a:t>валідація</a:t>
            </a:r>
            <a:r>
              <a:rPr lang="uk-UA" sz="1200" dirty="0"/>
              <a:t> даних і захист від некоректних вводів</a:t>
            </a:r>
          </a:p>
          <a:p>
            <a:pPr marL="0" indent="0">
              <a:buNone/>
            </a:pPr>
            <a:r>
              <a:rPr lang="uk-UA" sz="1200" dirty="0"/>
              <a:t>Рішення: чітка перевірка обов’язкових полів, контроль діапазону рейтингу, використання </a:t>
            </a:r>
            <a:r>
              <a:rPr lang="uk-UA" sz="1200" dirty="0" err="1"/>
              <a:t>параметризованих</a:t>
            </a:r>
            <a:r>
              <a:rPr lang="uk-UA" sz="1200" dirty="0"/>
              <a:t> запитів</a:t>
            </a:r>
          </a:p>
          <a:p>
            <a:pPr marL="0" indent="0">
              <a:buNone/>
            </a:pPr>
            <a:r>
              <a:rPr lang="uk-UA" sz="1200" dirty="0"/>
              <a:t>@</a:t>
            </a:r>
            <a:r>
              <a:rPr lang="en-US" sz="1200" dirty="0" err="1"/>
              <a:t>app.route</a:t>
            </a:r>
            <a:r>
              <a:rPr lang="en-US" sz="1200" dirty="0"/>
              <a:t>('/</a:t>
            </a:r>
            <a:r>
              <a:rPr lang="en-US" sz="1200" dirty="0" err="1"/>
              <a:t>api</a:t>
            </a:r>
            <a:r>
              <a:rPr lang="en-US" sz="1200" dirty="0"/>
              <a:t>/feedback', methods=['POST'])</a:t>
            </a:r>
            <a:br>
              <a:rPr lang="en-US" sz="1200" dirty="0"/>
            </a:br>
            <a:r>
              <a:rPr lang="en-US" sz="1200" dirty="0"/>
              <a:t>def </a:t>
            </a:r>
            <a:r>
              <a:rPr lang="en-US" sz="1200" dirty="0" err="1"/>
              <a:t>create_feedback</a:t>
            </a:r>
            <a:r>
              <a:rPr lang="en-US" sz="1200" dirty="0"/>
              <a:t>():</a:t>
            </a:r>
            <a:br>
              <a:rPr lang="en-US" sz="1200" dirty="0"/>
            </a:br>
            <a:r>
              <a:rPr lang="en-US" sz="1200" dirty="0"/>
              <a:t>data = </a:t>
            </a:r>
            <a:r>
              <a:rPr lang="en-US" sz="1200" dirty="0" err="1"/>
              <a:t>request.get_json</a:t>
            </a:r>
            <a:r>
              <a:rPr lang="en-US" sz="1200" dirty="0"/>
              <a:t>() or {}</a:t>
            </a:r>
            <a:br>
              <a:rPr lang="en-US" sz="1200" dirty="0"/>
            </a:br>
            <a:r>
              <a:rPr lang="en-US" sz="1200" dirty="0" err="1"/>
              <a:t>product_id</a:t>
            </a:r>
            <a:r>
              <a:rPr lang="en-US" sz="1200" dirty="0"/>
              <a:t> = </a:t>
            </a:r>
            <a:r>
              <a:rPr lang="en-US" sz="1200" dirty="0" err="1"/>
              <a:t>data.get</a:t>
            </a:r>
            <a:r>
              <a:rPr lang="en-US" sz="1200" dirty="0"/>
              <a:t>('</a:t>
            </a:r>
            <a:r>
              <a:rPr lang="en-US" sz="1200" dirty="0" err="1"/>
              <a:t>product_id</a:t>
            </a:r>
            <a:r>
              <a:rPr lang="en-US" sz="1200" dirty="0"/>
              <a:t>')</a:t>
            </a:r>
            <a:br>
              <a:rPr lang="en-US" sz="1200" dirty="0"/>
            </a:br>
            <a:r>
              <a:rPr lang="en-US" sz="1200" dirty="0"/>
              <a:t>rating = </a:t>
            </a:r>
            <a:r>
              <a:rPr lang="en-US" sz="1200" dirty="0" err="1"/>
              <a:t>data.get</a:t>
            </a:r>
            <a:r>
              <a:rPr lang="en-US" sz="1200" dirty="0"/>
              <a:t>('rating')</a:t>
            </a:r>
            <a:br>
              <a:rPr lang="en-US" sz="1200" dirty="0"/>
            </a:br>
            <a:r>
              <a:rPr lang="en-US" sz="1200" dirty="0"/>
              <a:t>comment = (</a:t>
            </a:r>
            <a:r>
              <a:rPr lang="en-US" sz="1200" dirty="0" err="1"/>
              <a:t>data.get</a:t>
            </a:r>
            <a:r>
              <a:rPr lang="en-US" sz="1200" dirty="0"/>
              <a:t>('comment') or '').strip()</a:t>
            </a:r>
            <a:br>
              <a:rPr lang="uk-UA" sz="1200" dirty="0"/>
            </a:br>
            <a:r>
              <a:rPr lang="uk-UA" sz="1200" dirty="0"/>
              <a:t># </a:t>
            </a:r>
            <a:r>
              <a:rPr lang="uk-UA" sz="1200" dirty="0" err="1"/>
              <a:t>Валідація</a:t>
            </a:r>
            <a:br>
              <a:rPr lang="uk-UA" sz="1200" dirty="0"/>
            </a:br>
            <a:r>
              <a:rPr lang="en-US" sz="1200" dirty="0"/>
              <a:t>if not </a:t>
            </a:r>
            <a:r>
              <a:rPr lang="en-US" sz="1200" dirty="0" err="1"/>
              <a:t>product_id</a:t>
            </a:r>
            <a:r>
              <a:rPr lang="en-US" sz="1200" dirty="0"/>
              <a:t> or not </a:t>
            </a:r>
            <a:r>
              <a:rPr lang="en-US" sz="1200" dirty="0" err="1"/>
              <a:t>isinstance</a:t>
            </a:r>
            <a:r>
              <a:rPr lang="en-US" sz="1200" dirty="0"/>
              <a:t>(rating, int) or not (1 &lt;= rating &lt;= 5):</a:t>
            </a:r>
            <a:br>
              <a:rPr lang="uk-UA" sz="1200" dirty="0"/>
            </a:br>
            <a:r>
              <a:rPr lang="en-US" sz="1200" dirty="0"/>
              <a:t>    return </a:t>
            </a:r>
            <a:r>
              <a:rPr lang="en-US" sz="1200" dirty="0" err="1"/>
              <a:t>jsonify</a:t>
            </a:r>
            <a:r>
              <a:rPr lang="en-US" sz="1200" dirty="0"/>
              <a:t>({'error': 'Invalid payload'}), 400</a:t>
            </a:r>
            <a:br>
              <a:rPr lang="uk-UA" sz="1200" dirty="0"/>
            </a:br>
            <a:r>
              <a:rPr lang="en-US" sz="1200" dirty="0"/>
              <a:t>if </a:t>
            </a:r>
            <a:r>
              <a:rPr lang="en-US" sz="1200" dirty="0" err="1"/>
              <a:t>len</a:t>
            </a:r>
            <a:r>
              <a:rPr lang="en-US" sz="1200" dirty="0"/>
              <a:t>(comment) &lt; 3:</a:t>
            </a:r>
            <a:br>
              <a:rPr lang="uk-UA" sz="1200" dirty="0"/>
            </a:br>
            <a:r>
              <a:rPr lang="en-US" sz="1200" dirty="0"/>
              <a:t>    return </a:t>
            </a:r>
            <a:r>
              <a:rPr lang="en-US" sz="1200" dirty="0" err="1"/>
              <a:t>jsonify</a:t>
            </a:r>
            <a:r>
              <a:rPr lang="en-US" sz="1200" dirty="0"/>
              <a:t>({'error': 'Comment too short'}), 400</a:t>
            </a:r>
            <a:br>
              <a:rPr lang="uk-UA" sz="1200" dirty="0"/>
            </a:br>
            <a:r>
              <a:rPr lang="en-US" sz="1200" dirty="0"/>
              <a:t># </a:t>
            </a:r>
            <a:r>
              <a:rPr lang="uk-UA" sz="1200" dirty="0"/>
              <a:t>Запис у БД (</a:t>
            </a:r>
            <a:r>
              <a:rPr lang="uk-UA" sz="1200" dirty="0" err="1"/>
              <a:t>параметризований</a:t>
            </a:r>
            <a:r>
              <a:rPr lang="uk-UA" sz="1200" dirty="0"/>
              <a:t> запит)</a:t>
            </a:r>
            <a:br>
              <a:rPr lang="uk-UA" sz="1200" dirty="0"/>
            </a:br>
            <a:r>
              <a:rPr lang="en-US" sz="1200" dirty="0"/>
              <a:t>conn = </a:t>
            </a:r>
            <a:r>
              <a:rPr lang="en-US" sz="1200" dirty="0" err="1"/>
              <a:t>get_db_conn</a:t>
            </a:r>
            <a:r>
              <a:rPr lang="en-US" sz="1200" dirty="0"/>
              <a:t>()</a:t>
            </a:r>
            <a:br>
              <a:rPr lang="uk-UA" sz="1200" dirty="0"/>
            </a:br>
            <a:r>
              <a:rPr lang="en-US" sz="1200" dirty="0"/>
              <a:t>cur = </a:t>
            </a:r>
            <a:r>
              <a:rPr lang="en-US" sz="1200" dirty="0" err="1"/>
              <a:t>conn.cursor</a:t>
            </a:r>
            <a:r>
              <a:rPr lang="en-US" sz="1200" dirty="0"/>
              <a:t>()</a:t>
            </a:r>
            <a:br>
              <a:rPr lang="uk-UA" sz="1200" dirty="0"/>
            </a:br>
            <a:r>
              <a:rPr lang="en-US" sz="1200" dirty="0" err="1"/>
              <a:t>cur.execute</a:t>
            </a:r>
            <a:r>
              <a:rPr lang="en-US" sz="1200" dirty="0"/>
              <a:t>(</a:t>
            </a:r>
            <a:br>
              <a:rPr lang="uk-UA" sz="1200" dirty="0"/>
            </a:br>
            <a:r>
              <a:rPr lang="en-US" sz="1200" dirty="0"/>
              <a:t>    'INSERT INTO feedback (</a:t>
            </a:r>
            <a:r>
              <a:rPr lang="en-US" sz="1200" dirty="0" err="1"/>
              <a:t>product_id</a:t>
            </a:r>
            <a:r>
              <a:rPr lang="en-US" sz="1200" dirty="0"/>
              <a:t>, rating, comment, </a:t>
            </a:r>
            <a:r>
              <a:rPr lang="en-US" sz="1200" dirty="0" err="1"/>
              <a:t>created_at</a:t>
            </a:r>
            <a:r>
              <a:rPr lang="en-US" sz="1200" dirty="0"/>
              <a:t>) VALUES (?, ?, ?, CURRENT_TIMESTAMP)’,</a:t>
            </a:r>
            <a:br>
              <a:rPr lang="uk-UA" sz="1200" dirty="0"/>
            </a:br>
            <a:r>
              <a:rPr lang="en-US" sz="1200" dirty="0"/>
              <a:t>    (</a:t>
            </a:r>
            <a:r>
              <a:rPr lang="en-US" sz="1200" dirty="0" err="1"/>
              <a:t>product_id</a:t>
            </a:r>
            <a:r>
              <a:rPr lang="en-US" sz="1200" dirty="0"/>
              <a:t>, rating, comment)</a:t>
            </a:r>
            <a:br>
              <a:rPr lang="uk-UA" sz="1200" dirty="0"/>
            </a:br>
            <a:r>
              <a:rPr lang="en-US" sz="1200" dirty="0"/>
              <a:t>)</a:t>
            </a:r>
            <a:br>
              <a:rPr lang="uk-UA" sz="1200" dirty="0"/>
            </a:br>
            <a:r>
              <a:rPr lang="en-US" sz="1200" dirty="0" err="1"/>
              <a:t>conn.commit</a:t>
            </a:r>
            <a:r>
              <a:rPr lang="en-US" sz="1200" dirty="0"/>
              <a:t>()</a:t>
            </a:r>
            <a:br>
              <a:rPr lang="uk-UA" sz="1200" dirty="0"/>
            </a:br>
            <a:r>
              <a:rPr lang="en-US" sz="1200" dirty="0"/>
              <a:t>return </a:t>
            </a:r>
            <a:r>
              <a:rPr lang="en-US" sz="1200" dirty="0" err="1"/>
              <a:t>jsonify</a:t>
            </a:r>
            <a:r>
              <a:rPr lang="en-US" sz="1200" dirty="0"/>
              <a:t>({'status': 'ok'}), 201</a:t>
            </a:r>
            <a:br>
              <a:rPr lang="uk-UA" sz="1200" dirty="0"/>
            </a:br>
            <a:r>
              <a:rPr lang="uk-UA" sz="1200" dirty="0"/>
              <a:t>Пояснення:</a:t>
            </a:r>
            <a:br>
              <a:rPr lang="uk-UA" sz="1200" dirty="0"/>
            </a:br>
            <a:r>
              <a:rPr lang="uk-UA" sz="1200" dirty="0"/>
              <a:t>Захист: перевіряємо типи/діапазони і мінімальну довжину коментаря.</a:t>
            </a:r>
            <a:br>
              <a:rPr lang="uk-UA" sz="1200" dirty="0"/>
            </a:br>
            <a:r>
              <a:rPr lang="uk-UA" sz="1200" dirty="0"/>
              <a:t>Безпека: </a:t>
            </a:r>
            <a:r>
              <a:rPr lang="uk-UA" sz="1200" dirty="0" err="1"/>
              <a:t>параметризовані</a:t>
            </a:r>
            <a:r>
              <a:rPr lang="uk-UA" sz="1200" dirty="0"/>
              <a:t> </a:t>
            </a:r>
            <a:r>
              <a:rPr lang="en-US" sz="1200" dirty="0"/>
              <a:t>SQL-</a:t>
            </a:r>
            <a:r>
              <a:rPr lang="uk-UA" sz="1200" dirty="0"/>
              <a:t>запити — захист від </a:t>
            </a:r>
            <a:r>
              <a:rPr lang="en-US" sz="1200" dirty="0"/>
              <a:t>SQL Injection.</a:t>
            </a:r>
            <a:br>
              <a:rPr lang="uk-UA" sz="1200" dirty="0"/>
            </a:br>
            <a:r>
              <a:rPr lang="en-US" sz="1200" dirty="0"/>
              <a:t>UX: </a:t>
            </a:r>
            <a:r>
              <a:rPr lang="uk-UA" sz="1200" dirty="0"/>
              <a:t>чіткі повідомлення про помилки.</a:t>
            </a:r>
          </a:p>
          <a:p>
            <a:pPr marL="0" indent="0">
              <a:buNone/>
            </a:pPr>
            <a:endParaRPr lang="uk-UA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750EE0-7628-DAB3-4D81-C85E285352E0}"/>
              </a:ext>
            </a:extLst>
          </p:cNvPr>
          <p:cNvSpPr txBox="1"/>
          <p:nvPr/>
        </p:nvSpPr>
        <p:spPr>
          <a:xfrm>
            <a:off x="5924550" y="1485900"/>
            <a:ext cx="5495925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800" dirty="0"/>
              <a:t>— Приклад 2 —</a:t>
            </a:r>
          </a:p>
          <a:p>
            <a:r>
              <a:rPr lang="uk-UA" sz="800" dirty="0"/>
              <a:t>Код: бізнес-логіка застосування </a:t>
            </a:r>
            <a:r>
              <a:rPr lang="uk-UA" sz="800" dirty="0" err="1"/>
              <a:t>промокоду</a:t>
            </a:r>
            <a:r>
              <a:rPr lang="uk-UA" sz="800" dirty="0"/>
              <a:t> з терміном дії</a:t>
            </a:r>
          </a:p>
          <a:p>
            <a:r>
              <a:rPr lang="uk-UA" sz="800" dirty="0"/>
              <a:t>Рішення: перевірка валідності коду, активності, дати закінчення, коректний розрахунок</a:t>
            </a:r>
          </a:p>
          <a:p>
            <a:r>
              <a:rPr lang="uk-UA" sz="800" dirty="0"/>
              <a:t>@</a:t>
            </a:r>
            <a:r>
              <a:rPr lang="en-US" sz="800" dirty="0" err="1"/>
              <a:t>app.route</a:t>
            </a:r>
            <a:r>
              <a:rPr lang="en-US" sz="800" dirty="0"/>
              <a:t>('/</a:t>
            </a:r>
            <a:r>
              <a:rPr lang="en-US" sz="800" dirty="0" err="1"/>
              <a:t>api</a:t>
            </a:r>
            <a:r>
              <a:rPr lang="en-US" sz="800" dirty="0"/>
              <a:t>/promo/apply', methods=['POST'])</a:t>
            </a:r>
            <a:br>
              <a:rPr lang="en-US" sz="800" dirty="0"/>
            </a:br>
            <a:r>
              <a:rPr lang="en-US" sz="800" dirty="0"/>
              <a:t>def </a:t>
            </a:r>
            <a:r>
              <a:rPr lang="en-US" sz="800" dirty="0" err="1"/>
              <a:t>apply_promo</a:t>
            </a:r>
            <a:r>
              <a:rPr lang="en-US" sz="800" dirty="0"/>
              <a:t>():</a:t>
            </a:r>
            <a:br>
              <a:rPr lang="en-US" sz="800" dirty="0"/>
            </a:br>
            <a:r>
              <a:rPr lang="en-US" sz="800" dirty="0"/>
              <a:t>data = </a:t>
            </a:r>
            <a:r>
              <a:rPr lang="en-US" sz="800" dirty="0" err="1"/>
              <a:t>request.get_json</a:t>
            </a:r>
            <a:r>
              <a:rPr lang="en-US" sz="800" dirty="0"/>
              <a:t>() or {}</a:t>
            </a:r>
            <a:br>
              <a:rPr lang="en-US" sz="800" dirty="0"/>
            </a:br>
            <a:r>
              <a:rPr lang="en-US" sz="800" dirty="0"/>
              <a:t>code = (</a:t>
            </a:r>
            <a:r>
              <a:rPr lang="en-US" sz="800" dirty="0" err="1"/>
              <a:t>data.get</a:t>
            </a:r>
            <a:r>
              <a:rPr lang="en-US" sz="800" dirty="0"/>
              <a:t>('code') or '').strip().upper()</a:t>
            </a:r>
            <a:br>
              <a:rPr lang="en-US" sz="800" dirty="0"/>
            </a:br>
            <a:r>
              <a:rPr lang="en-US" sz="800" dirty="0" err="1"/>
              <a:t>cart_total</a:t>
            </a:r>
            <a:r>
              <a:rPr lang="en-US" sz="800" dirty="0"/>
              <a:t> = float(</a:t>
            </a:r>
            <a:r>
              <a:rPr lang="en-US" sz="800" dirty="0" err="1"/>
              <a:t>data.get</a:t>
            </a:r>
            <a:r>
              <a:rPr lang="en-US" sz="800" dirty="0"/>
              <a:t>('</a:t>
            </a:r>
            <a:r>
              <a:rPr lang="en-US" sz="800" dirty="0" err="1"/>
              <a:t>cart_total</a:t>
            </a:r>
            <a:r>
              <a:rPr lang="en-US" sz="800" dirty="0"/>
              <a:t>') or 0.0)</a:t>
            </a:r>
            <a:br>
              <a:rPr lang="uk-UA" sz="800" dirty="0"/>
            </a:br>
            <a:r>
              <a:rPr lang="en-US" sz="800" dirty="0"/>
              <a:t>if not code or </a:t>
            </a:r>
            <a:r>
              <a:rPr lang="en-US" sz="800" dirty="0" err="1"/>
              <a:t>cart_total</a:t>
            </a:r>
            <a:r>
              <a:rPr lang="en-US" sz="800" dirty="0"/>
              <a:t> &lt;= 0:</a:t>
            </a:r>
          </a:p>
          <a:p>
            <a:r>
              <a:rPr lang="en-US" sz="800" dirty="0"/>
              <a:t>    return </a:t>
            </a:r>
            <a:r>
              <a:rPr lang="en-US" sz="800" dirty="0" err="1"/>
              <a:t>jsonify</a:t>
            </a:r>
            <a:r>
              <a:rPr lang="en-US" sz="800" dirty="0"/>
              <a:t>({'error': 'Invalid payload'}), 400</a:t>
            </a:r>
          </a:p>
          <a:p>
            <a:endParaRPr lang="en-US" sz="800" dirty="0"/>
          </a:p>
          <a:p>
            <a:r>
              <a:rPr lang="en-US" sz="800" dirty="0"/>
              <a:t># </a:t>
            </a:r>
            <a:r>
              <a:rPr lang="uk-UA" sz="800" dirty="0"/>
              <a:t>Знайти </a:t>
            </a:r>
            <a:r>
              <a:rPr lang="uk-UA" sz="800" dirty="0" err="1"/>
              <a:t>промокод</a:t>
            </a:r>
            <a:endParaRPr lang="uk-UA" sz="800" dirty="0"/>
          </a:p>
          <a:p>
            <a:r>
              <a:rPr lang="en-US" sz="800" dirty="0"/>
              <a:t>conn = </a:t>
            </a:r>
            <a:r>
              <a:rPr lang="en-US" sz="800" dirty="0" err="1"/>
              <a:t>get_db_conn</a:t>
            </a:r>
            <a:r>
              <a:rPr lang="en-US" sz="800" dirty="0"/>
              <a:t>()</a:t>
            </a:r>
          </a:p>
          <a:p>
            <a:r>
              <a:rPr lang="en-US" sz="800" dirty="0"/>
              <a:t>cur = </a:t>
            </a:r>
            <a:r>
              <a:rPr lang="en-US" sz="800" dirty="0" err="1"/>
              <a:t>conn.cursor</a:t>
            </a:r>
            <a:r>
              <a:rPr lang="en-US" sz="800" dirty="0"/>
              <a:t>()</a:t>
            </a:r>
          </a:p>
          <a:p>
            <a:r>
              <a:rPr lang="en-US" sz="800" dirty="0" err="1"/>
              <a:t>cur.execute</a:t>
            </a:r>
            <a:r>
              <a:rPr lang="en-US" sz="800" dirty="0"/>
              <a:t>('SELECT </a:t>
            </a:r>
            <a:r>
              <a:rPr lang="en-US" sz="800" dirty="0" err="1"/>
              <a:t>discount_percent</a:t>
            </a:r>
            <a:r>
              <a:rPr lang="en-US" sz="800" dirty="0"/>
              <a:t>, </a:t>
            </a:r>
            <a:r>
              <a:rPr lang="en-US" sz="800" dirty="0" err="1"/>
              <a:t>discount_amount</a:t>
            </a:r>
            <a:r>
              <a:rPr lang="en-US" sz="800" dirty="0"/>
              <a:t>, </a:t>
            </a:r>
            <a:r>
              <a:rPr lang="en-US" sz="800" dirty="0" err="1"/>
              <a:t>expires_at</a:t>
            </a:r>
            <a:r>
              <a:rPr lang="en-US" sz="800" dirty="0"/>
              <a:t>, active FROM </a:t>
            </a:r>
            <a:r>
              <a:rPr lang="en-US" sz="800" dirty="0" err="1"/>
              <a:t>promo_codes</a:t>
            </a:r>
            <a:r>
              <a:rPr lang="en-US" sz="800" dirty="0"/>
              <a:t> WHERE code = ?', (code,))</a:t>
            </a:r>
          </a:p>
          <a:p>
            <a:r>
              <a:rPr lang="en-US" sz="800" dirty="0"/>
              <a:t>row = </a:t>
            </a:r>
            <a:r>
              <a:rPr lang="en-US" sz="800" dirty="0" err="1"/>
              <a:t>cur.fetchone</a:t>
            </a:r>
            <a:r>
              <a:rPr lang="en-US" sz="800" dirty="0"/>
              <a:t>()</a:t>
            </a:r>
          </a:p>
          <a:p>
            <a:r>
              <a:rPr lang="en-US" sz="800" dirty="0"/>
              <a:t>if not row:</a:t>
            </a:r>
          </a:p>
          <a:p>
            <a:r>
              <a:rPr lang="en-US" sz="800" dirty="0"/>
              <a:t>    return </a:t>
            </a:r>
            <a:r>
              <a:rPr lang="en-US" sz="800" dirty="0" err="1"/>
              <a:t>jsonify</a:t>
            </a:r>
            <a:r>
              <a:rPr lang="en-US" sz="800" dirty="0"/>
              <a:t>({'error': 'Promo not found'}), 404</a:t>
            </a:r>
          </a:p>
          <a:p>
            <a:r>
              <a:rPr lang="en-US" sz="800" dirty="0"/>
              <a:t>percent, amount, </a:t>
            </a:r>
            <a:r>
              <a:rPr lang="en-US" sz="800" dirty="0" err="1"/>
              <a:t>expires_at</a:t>
            </a:r>
            <a:r>
              <a:rPr lang="en-US" sz="800" dirty="0"/>
              <a:t>, active = row</a:t>
            </a:r>
          </a:p>
          <a:p>
            <a:r>
              <a:rPr lang="en-US" sz="800" dirty="0"/>
              <a:t>if not active:</a:t>
            </a:r>
          </a:p>
          <a:p>
            <a:r>
              <a:rPr lang="en-US" sz="800" dirty="0"/>
              <a:t>    return </a:t>
            </a:r>
            <a:r>
              <a:rPr lang="en-US" sz="800" dirty="0" err="1"/>
              <a:t>jsonify</a:t>
            </a:r>
            <a:r>
              <a:rPr lang="en-US" sz="800" dirty="0"/>
              <a:t>({'error': 'Promo is inactive'}), 400</a:t>
            </a:r>
          </a:p>
          <a:p>
            <a:r>
              <a:rPr lang="en-US" sz="800" dirty="0"/>
              <a:t>if </a:t>
            </a:r>
            <a:r>
              <a:rPr lang="en-US" sz="800" dirty="0" err="1"/>
              <a:t>expires_at</a:t>
            </a:r>
            <a:r>
              <a:rPr lang="en-US" sz="800" dirty="0"/>
              <a:t> and </a:t>
            </a:r>
            <a:r>
              <a:rPr lang="en-US" sz="800" dirty="0" err="1"/>
              <a:t>expires_at</a:t>
            </a:r>
            <a:r>
              <a:rPr lang="en-US" sz="800" dirty="0"/>
              <a:t> &lt; </a:t>
            </a:r>
            <a:r>
              <a:rPr lang="en-US" sz="800" dirty="0" err="1"/>
              <a:t>datetime.utcnow</a:t>
            </a:r>
            <a:r>
              <a:rPr lang="en-US" sz="800" dirty="0"/>
              <a:t>().</a:t>
            </a:r>
            <a:r>
              <a:rPr lang="en-US" sz="800" dirty="0" err="1"/>
              <a:t>isoformat</a:t>
            </a:r>
            <a:r>
              <a:rPr lang="en-US" sz="800" dirty="0"/>
              <a:t>():</a:t>
            </a:r>
          </a:p>
          <a:p>
            <a:r>
              <a:rPr lang="en-US" sz="800" dirty="0"/>
              <a:t>    return </a:t>
            </a:r>
            <a:r>
              <a:rPr lang="en-US" sz="800" dirty="0" err="1"/>
              <a:t>jsonify</a:t>
            </a:r>
            <a:r>
              <a:rPr lang="en-US" sz="800" dirty="0"/>
              <a:t>({'error': 'Promo expired'}), 400</a:t>
            </a:r>
          </a:p>
          <a:p>
            <a:r>
              <a:rPr lang="en-US" sz="800" dirty="0"/>
              <a:t># </a:t>
            </a:r>
            <a:r>
              <a:rPr lang="uk-UA" sz="800" dirty="0"/>
              <a:t>Розрахунок знижки</a:t>
            </a:r>
          </a:p>
          <a:p>
            <a:r>
              <a:rPr lang="en-US" sz="800" dirty="0"/>
              <a:t>discount = 0.0</a:t>
            </a:r>
          </a:p>
          <a:p>
            <a:r>
              <a:rPr lang="en-US" sz="800" dirty="0"/>
              <a:t>if percent:</a:t>
            </a:r>
          </a:p>
          <a:p>
            <a:r>
              <a:rPr lang="en-US" sz="800" dirty="0"/>
              <a:t>    discount += </a:t>
            </a:r>
            <a:r>
              <a:rPr lang="en-US" sz="800" dirty="0" err="1"/>
              <a:t>cart_total</a:t>
            </a:r>
            <a:r>
              <a:rPr lang="en-US" sz="800" dirty="0"/>
              <a:t> * (percent / 100.0)</a:t>
            </a:r>
          </a:p>
          <a:p>
            <a:r>
              <a:rPr lang="en-US" sz="800" dirty="0"/>
              <a:t>if amount:</a:t>
            </a:r>
          </a:p>
          <a:p>
            <a:r>
              <a:rPr lang="en-US" sz="800" dirty="0"/>
              <a:t>    discount += amount</a:t>
            </a:r>
          </a:p>
          <a:p>
            <a:r>
              <a:rPr lang="en-US" sz="800" dirty="0" err="1"/>
              <a:t>new_total</a:t>
            </a:r>
            <a:r>
              <a:rPr lang="en-US" sz="800" dirty="0"/>
              <a:t> = max(</a:t>
            </a:r>
            <a:r>
              <a:rPr lang="en-US" sz="800" dirty="0" err="1"/>
              <a:t>cart_total</a:t>
            </a:r>
            <a:r>
              <a:rPr lang="en-US" sz="800" dirty="0"/>
              <a:t> - discount, 0.0)</a:t>
            </a:r>
          </a:p>
          <a:p>
            <a:r>
              <a:rPr lang="en-US" sz="800" dirty="0"/>
              <a:t>return </a:t>
            </a:r>
            <a:r>
              <a:rPr lang="en-US" sz="800" dirty="0" err="1"/>
              <a:t>jsonify</a:t>
            </a:r>
            <a:r>
              <a:rPr lang="en-US" sz="800" dirty="0"/>
              <a:t>({'ok': True, 'code': code, 'discount': round(discount, 2), 'total': round(</a:t>
            </a:r>
            <a:r>
              <a:rPr lang="en-US" sz="800" dirty="0" err="1"/>
              <a:t>new_total</a:t>
            </a:r>
            <a:r>
              <a:rPr lang="en-US" sz="800" dirty="0"/>
              <a:t>, 2)}), 200</a:t>
            </a:r>
            <a:br>
              <a:rPr lang="uk-UA" sz="800" dirty="0"/>
            </a:br>
            <a:r>
              <a:rPr lang="uk-UA" sz="800" dirty="0"/>
              <a:t>Пояснення:</a:t>
            </a:r>
          </a:p>
          <a:p>
            <a:r>
              <a:rPr lang="uk-UA" sz="800" dirty="0"/>
              <a:t>Коректність: комбінуємо фіксовану знижку та відсоткову, не дозволяємо негативну суму.</a:t>
            </a:r>
          </a:p>
          <a:p>
            <a:r>
              <a:rPr lang="uk-UA" sz="800" dirty="0" err="1"/>
              <a:t>Валідація</a:t>
            </a:r>
            <a:r>
              <a:rPr lang="uk-UA" sz="800" dirty="0"/>
              <a:t>: статус активності і термін дії </a:t>
            </a:r>
            <a:r>
              <a:rPr lang="uk-UA" sz="800" dirty="0" err="1"/>
              <a:t>промокоду</a:t>
            </a:r>
            <a:r>
              <a:rPr lang="uk-UA" sz="800" dirty="0"/>
              <a:t>.</a:t>
            </a:r>
          </a:p>
          <a:p>
            <a:r>
              <a:rPr lang="uk-UA" sz="800" dirty="0"/>
              <a:t>Масштабованість: проста логіка, легко перенести на </a:t>
            </a:r>
            <a:r>
              <a:rPr lang="en-US" sz="800" dirty="0"/>
              <a:t>PostgreSQL/ORM.</a:t>
            </a:r>
          </a:p>
          <a:p>
            <a:r>
              <a:rPr lang="en-US" sz="800" dirty="0"/>
              <a:t>— </a:t>
            </a:r>
            <a:r>
              <a:rPr lang="uk-UA" sz="800" dirty="0"/>
              <a:t>Що тут важливо —</a:t>
            </a:r>
          </a:p>
          <a:p>
            <a:r>
              <a:rPr lang="uk-UA" sz="800" dirty="0"/>
              <a:t>Явна </a:t>
            </a:r>
            <a:r>
              <a:rPr lang="uk-UA" sz="800" dirty="0" err="1"/>
              <a:t>валідація</a:t>
            </a:r>
            <a:r>
              <a:rPr lang="uk-UA" sz="800" dirty="0"/>
              <a:t> вхідних даних.</a:t>
            </a:r>
          </a:p>
          <a:p>
            <a:r>
              <a:rPr lang="uk-UA" sz="800" dirty="0" err="1"/>
              <a:t>Параметризовані</a:t>
            </a:r>
            <a:r>
              <a:rPr lang="uk-UA" sz="800" dirty="0"/>
              <a:t> </a:t>
            </a:r>
            <a:r>
              <a:rPr lang="en-US" sz="800" dirty="0"/>
              <a:t>SQL-</a:t>
            </a:r>
            <a:r>
              <a:rPr lang="uk-UA" sz="800" dirty="0"/>
              <a:t>запити для безпеки.</a:t>
            </a:r>
          </a:p>
          <a:p>
            <a:r>
              <a:rPr lang="uk-UA" sz="800" dirty="0"/>
              <a:t>Проста, читабельна бізнес-логіка, яку легко розширити.</a:t>
            </a:r>
          </a:p>
          <a:p>
            <a:r>
              <a:rPr lang="uk-UA" sz="800" dirty="0"/>
              <a:t>Чіткі помилки для </a:t>
            </a:r>
            <a:r>
              <a:rPr lang="uk-UA" sz="800" dirty="0" err="1"/>
              <a:t>фронтенду</a:t>
            </a:r>
            <a:r>
              <a:rPr lang="uk-UA" sz="800" dirty="0"/>
              <a:t> (</a:t>
            </a:r>
            <a:r>
              <a:rPr lang="en-US" sz="800" dirty="0"/>
              <a:t>HTTP-</a:t>
            </a:r>
            <a:r>
              <a:rPr lang="uk-UA" sz="800" dirty="0"/>
              <a:t>коди + повідомлення).</a:t>
            </a:r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6153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35E68-CD4F-0629-B465-C6A64D710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775" y="325437"/>
            <a:ext cx="11677650" cy="6207125"/>
          </a:xfrm>
        </p:spPr>
        <p:txBody>
          <a:bodyPr>
            <a:normAutofit/>
          </a:bodyPr>
          <a:lstStyle/>
          <a:p>
            <a:r>
              <a:rPr lang="uk-UA" sz="9600" dirty="0"/>
              <a:t>Демонстрація</a:t>
            </a:r>
          </a:p>
        </p:txBody>
      </p:sp>
    </p:spTree>
    <p:extLst>
      <p:ext uri="{BB962C8B-B14F-4D97-AF65-F5344CB8AC3E}">
        <p14:creationId xmlns:p14="http://schemas.microsoft.com/office/powerpoint/2010/main" val="3485335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AF273E-10FA-49A1-AEA8-B534A7BC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Можливості розвитку</a:t>
            </a:r>
            <a:br>
              <a:rPr lang="uk-UA" dirty="0"/>
            </a:b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D3894C0-B9B1-FC68-FED4-7141115B9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uk-UA" sz="4300" dirty="0"/>
              <a:t>Функції в майбутньому:</a:t>
            </a:r>
          </a:p>
          <a:p>
            <a:pPr lvl="1"/>
            <a:r>
              <a:rPr lang="uk-UA" sz="3700" dirty="0"/>
              <a:t>Авторизація користувачів (реєстрація, профіль, історія замовлень)</a:t>
            </a:r>
          </a:p>
          <a:p>
            <a:pPr lvl="1"/>
            <a:r>
              <a:rPr lang="uk-UA" sz="3700" dirty="0"/>
              <a:t>Оплати онлайн (</a:t>
            </a:r>
            <a:r>
              <a:rPr lang="en-US" sz="3700" dirty="0"/>
              <a:t>Stripe/</a:t>
            </a:r>
            <a:r>
              <a:rPr lang="en-US" sz="3700" dirty="0" err="1"/>
              <a:t>LiqPay</a:t>
            </a:r>
            <a:r>
              <a:rPr lang="en-US" sz="3700" dirty="0"/>
              <a:t>/</a:t>
            </a:r>
            <a:r>
              <a:rPr lang="en-US" sz="3700" dirty="0" err="1"/>
              <a:t>WayForPay</a:t>
            </a:r>
            <a:r>
              <a:rPr lang="en-US" sz="3700" dirty="0"/>
              <a:t>)</a:t>
            </a:r>
          </a:p>
          <a:p>
            <a:pPr lvl="1"/>
            <a:r>
              <a:rPr lang="uk-UA" sz="3700" dirty="0"/>
              <a:t>Рекомендації товарів, списки бажань, порівняння</a:t>
            </a:r>
          </a:p>
          <a:p>
            <a:pPr lvl="1"/>
            <a:r>
              <a:rPr lang="uk-UA" sz="3700" dirty="0"/>
              <a:t>Пошук з автодоповненням, фільтри за атрибутами</a:t>
            </a:r>
          </a:p>
          <a:p>
            <a:pPr lvl="1"/>
            <a:r>
              <a:rPr lang="uk-UA" sz="3700" dirty="0" err="1"/>
              <a:t>Нотіфікації</a:t>
            </a:r>
            <a:r>
              <a:rPr lang="uk-UA" sz="3700" dirty="0"/>
              <a:t> (</a:t>
            </a:r>
            <a:r>
              <a:rPr lang="en-US" sz="3700" dirty="0"/>
              <a:t>email, Telegram-</a:t>
            </a:r>
            <a:r>
              <a:rPr lang="uk-UA" sz="3700" dirty="0"/>
              <a:t>бот) про статус замовлень</a:t>
            </a:r>
          </a:p>
          <a:p>
            <a:pPr lvl="1"/>
            <a:r>
              <a:rPr lang="uk-UA" sz="3700" dirty="0" err="1"/>
              <a:t>Мульти</a:t>
            </a:r>
            <a:r>
              <a:rPr lang="uk-UA" sz="3700" dirty="0"/>
              <a:t>-мова, </a:t>
            </a:r>
            <a:r>
              <a:rPr lang="uk-UA" sz="3700" dirty="0" err="1"/>
              <a:t>мульти</a:t>
            </a:r>
            <a:r>
              <a:rPr lang="uk-UA" sz="3700" dirty="0"/>
              <a:t>-валюта, управління контентом (</a:t>
            </a:r>
            <a:r>
              <a:rPr lang="en-US" sz="3700" dirty="0"/>
              <a:t>CMS </a:t>
            </a:r>
            <a:r>
              <a:rPr lang="uk-UA" sz="3700" dirty="0"/>
              <a:t>блоки)</a:t>
            </a:r>
          </a:p>
          <a:p>
            <a:r>
              <a:rPr lang="uk-UA" sz="4300" dirty="0"/>
              <a:t>Покращення продуктивності:</a:t>
            </a:r>
          </a:p>
          <a:p>
            <a:pPr lvl="1"/>
            <a:r>
              <a:rPr lang="uk-UA" sz="3700" dirty="0"/>
              <a:t>Перехід на </a:t>
            </a:r>
            <a:r>
              <a:rPr lang="en-US" sz="3700" dirty="0"/>
              <a:t>PostgreSQL + </a:t>
            </a:r>
            <a:r>
              <a:rPr lang="uk-UA" sz="3700" dirty="0"/>
              <a:t>пул з’єднань</a:t>
            </a:r>
          </a:p>
          <a:p>
            <a:pPr lvl="1"/>
            <a:r>
              <a:rPr lang="en-US" sz="3700" dirty="0"/>
              <a:t>WSGI-</a:t>
            </a:r>
            <a:r>
              <a:rPr lang="uk-UA" sz="3700" dirty="0"/>
              <a:t>сервер </a:t>
            </a:r>
            <a:r>
              <a:rPr lang="en-US" sz="3700" dirty="0" err="1"/>
              <a:t>gunicorn</a:t>
            </a:r>
            <a:r>
              <a:rPr lang="en-US" sz="3700" dirty="0"/>
              <a:t> </a:t>
            </a:r>
            <a:r>
              <a:rPr lang="uk-UA" sz="3700" dirty="0"/>
              <a:t>з 4–8 </a:t>
            </a:r>
            <a:r>
              <a:rPr lang="uk-UA" sz="3700" dirty="0" err="1"/>
              <a:t>воркерами</a:t>
            </a:r>
            <a:endParaRPr lang="uk-UA" sz="3700" dirty="0"/>
          </a:p>
          <a:p>
            <a:pPr lvl="1"/>
            <a:r>
              <a:rPr lang="uk-UA" sz="3700" dirty="0" err="1"/>
              <a:t>Кешування</a:t>
            </a:r>
            <a:r>
              <a:rPr lang="uk-UA" sz="3700" dirty="0"/>
              <a:t>: </a:t>
            </a:r>
            <a:r>
              <a:rPr lang="en-US" sz="3700" dirty="0"/>
              <a:t>Redis (</a:t>
            </a:r>
            <a:r>
              <a:rPr lang="uk-UA" sz="3700" dirty="0"/>
              <a:t>сесії, часті запити, </a:t>
            </a:r>
            <a:r>
              <a:rPr lang="uk-UA" sz="3700" dirty="0" err="1"/>
              <a:t>промо</a:t>
            </a:r>
            <a:r>
              <a:rPr lang="uk-UA" sz="3700" dirty="0"/>
              <a:t>-правила)</a:t>
            </a:r>
          </a:p>
          <a:p>
            <a:pPr lvl="1"/>
            <a:r>
              <a:rPr lang="en-US" sz="3700" dirty="0"/>
              <a:t>CDN </a:t>
            </a:r>
            <a:r>
              <a:rPr lang="uk-UA" sz="3700" dirty="0"/>
              <a:t>для статики, </a:t>
            </a:r>
            <a:r>
              <a:rPr lang="en-US" sz="3700" dirty="0" err="1"/>
              <a:t>gzip</a:t>
            </a:r>
            <a:r>
              <a:rPr lang="en-US" sz="3700" dirty="0"/>
              <a:t>/ </a:t>
            </a:r>
            <a:r>
              <a:rPr lang="en-US" sz="3700" dirty="0" err="1"/>
              <a:t>Brotli</a:t>
            </a:r>
            <a:r>
              <a:rPr lang="en-US" sz="3700" dirty="0"/>
              <a:t>, HTTP/2</a:t>
            </a:r>
          </a:p>
          <a:p>
            <a:pPr lvl="1"/>
            <a:r>
              <a:rPr lang="uk-UA" sz="3700" dirty="0"/>
              <a:t>Індекси в БД (</a:t>
            </a:r>
            <a:r>
              <a:rPr lang="en-US" sz="3700" dirty="0"/>
              <a:t>name, </a:t>
            </a:r>
            <a:r>
              <a:rPr lang="en-US" sz="3700" dirty="0" err="1"/>
              <a:t>created_at</a:t>
            </a:r>
            <a:r>
              <a:rPr lang="en-US" sz="3700" dirty="0"/>
              <a:t>, foreign keys), </a:t>
            </a:r>
            <a:r>
              <a:rPr lang="uk-UA" sz="3700" dirty="0"/>
              <a:t>оптимізація </a:t>
            </a:r>
            <a:r>
              <a:rPr lang="en-US" sz="3700" dirty="0"/>
              <a:t>SQL</a:t>
            </a:r>
          </a:p>
          <a:p>
            <a:pPr lvl="1"/>
            <a:r>
              <a:rPr lang="en-US" sz="3700" dirty="0"/>
              <a:t>Lazy-loading </a:t>
            </a:r>
            <a:r>
              <a:rPr lang="uk-UA" sz="3700" dirty="0"/>
              <a:t>для зображень, пагінація на </a:t>
            </a:r>
            <a:r>
              <a:rPr lang="en-US" sz="3700" dirty="0"/>
              <a:t>API</a:t>
            </a:r>
          </a:p>
          <a:p>
            <a:r>
              <a:rPr lang="uk-UA" sz="4300" dirty="0"/>
              <a:t>Інтеграції (</a:t>
            </a:r>
            <a:r>
              <a:rPr lang="en-US" sz="4300" dirty="0"/>
              <a:t>roadmap):</a:t>
            </a:r>
          </a:p>
          <a:p>
            <a:pPr lvl="1"/>
            <a:r>
              <a:rPr lang="uk-UA" sz="3700" dirty="0"/>
              <a:t>Платіжні шлюзи (</a:t>
            </a:r>
            <a:r>
              <a:rPr lang="en-US" sz="3700" dirty="0"/>
              <a:t>Stripe/</a:t>
            </a:r>
            <a:r>
              <a:rPr lang="en-US" sz="3700" dirty="0" err="1"/>
              <a:t>LiqPay</a:t>
            </a:r>
            <a:r>
              <a:rPr lang="en-US" sz="3700" dirty="0"/>
              <a:t>), </a:t>
            </a:r>
            <a:r>
              <a:rPr lang="uk-UA" sz="3700" dirty="0" err="1"/>
              <a:t>вебхуки</a:t>
            </a:r>
            <a:r>
              <a:rPr lang="uk-UA" sz="3700" dirty="0"/>
              <a:t> підтвердження</a:t>
            </a:r>
          </a:p>
          <a:p>
            <a:pPr lvl="1"/>
            <a:r>
              <a:rPr lang="uk-UA" sz="3700" dirty="0"/>
              <a:t>Аналітика (</a:t>
            </a:r>
            <a:r>
              <a:rPr lang="en-US" sz="3700" dirty="0"/>
              <a:t>Google Analytics, </a:t>
            </a:r>
            <a:r>
              <a:rPr lang="en-US" sz="3700" dirty="0" err="1"/>
              <a:t>Matomo</a:t>
            </a:r>
            <a:r>
              <a:rPr lang="en-US" sz="3700" dirty="0"/>
              <a:t>), e-commerce events</a:t>
            </a:r>
          </a:p>
          <a:p>
            <a:pPr lvl="1"/>
            <a:r>
              <a:rPr lang="en-US" sz="3700" dirty="0"/>
              <a:t>CRM/ERP (Bitrix24, Zoho, HubSpot) </a:t>
            </a:r>
            <a:r>
              <a:rPr lang="uk-UA" sz="3700" dirty="0"/>
              <a:t>для замовлень і клієнтів</a:t>
            </a:r>
          </a:p>
          <a:p>
            <a:pPr lvl="1"/>
            <a:r>
              <a:rPr lang="uk-UA" sz="3700" dirty="0"/>
              <a:t>Доставка (</a:t>
            </a:r>
            <a:r>
              <a:rPr lang="en-US" sz="3700" dirty="0"/>
              <a:t>Nova Post, </a:t>
            </a:r>
            <a:r>
              <a:rPr lang="en-US" sz="3700" dirty="0" err="1"/>
              <a:t>Meest</a:t>
            </a:r>
            <a:r>
              <a:rPr lang="en-US" sz="3700" dirty="0"/>
              <a:t>) — </a:t>
            </a:r>
            <a:r>
              <a:rPr lang="uk-UA" sz="3700" dirty="0" err="1"/>
              <a:t>трекінг</a:t>
            </a:r>
            <a:r>
              <a:rPr lang="uk-UA" sz="3700" dirty="0"/>
              <a:t> і калькуляція</a:t>
            </a:r>
          </a:p>
          <a:p>
            <a:pPr lvl="1"/>
            <a:r>
              <a:rPr lang="uk-UA" sz="3700" dirty="0"/>
              <a:t>Моніторинг/</a:t>
            </a:r>
            <a:r>
              <a:rPr lang="uk-UA" sz="3700" dirty="0" err="1"/>
              <a:t>логування</a:t>
            </a:r>
            <a:r>
              <a:rPr lang="uk-UA" sz="3700" dirty="0"/>
              <a:t> (</a:t>
            </a:r>
            <a:r>
              <a:rPr lang="en-US" sz="3700" dirty="0"/>
              <a:t>Sentry, Prometheus/Grafana, ELK)</a:t>
            </a:r>
          </a:p>
          <a:p>
            <a:pPr lvl="1"/>
            <a:r>
              <a:rPr lang="en-US" sz="3700" dirty="0"/>
              <a:t>Email (SendGrid/</a:t>
            </a:r>
            <a:r>
              <a:rPr lang="en-US" sz="3700" dirty="0" err="1"/>
              <a:t>Mailgun</a:t>
            </a:r>
            <a:r>
              <a:rPr lang="en-US" sz="3700" dirty="0"/>
              <a:t>): </a:t>
            </a:r>
            <a:r>
              <a:rPr lang="uk-UA" sz="3700" dirty="0" err="1"/>
              <a:t>транзакційні</a:t>
            </a:r>
            <a:r>
              <a:rPr lang="uk-UA" sz="3700" dirty="0"/>
              <a:t> листи і розсилки</a:t>
            </a:r>
          </a:p>
          <a:p>
            <a:pPr marL="0" indent="0">
              <a:buNone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93800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D3C54-E908-3829-AB88-71D5B5CA0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Висновок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7FDBEA6-A5C2-901A-004E-E343CFC96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uk-UA" sz="1800" dirty="0"/>
              <a:t>Що реалізовано:</a:t>
            </a:r>
          </a:p>
          <a:p>
            <a:pPr marL="0" indent="0">
              <a:buNone/>
            </a:pPr>
            <a:r>
              <a:rPr lang="uk-UA" sz="1800" dirty="0"/>
              <a:t>Повнофункціональний інтернет-магазин </a:t>
            </a:r>
            <a:r>
              <a:rPr lang="en-US" sz="1800" dirty="0"/>
              <a:t>Flask Market </a:t>
            </a:r>
            <a:r>
              <a:rPr lang="uk-UA" sz="1800" dirty="0"/>
              <a:t>з каталогом, кошиком, замовленнями, </a:t>
            </a:r>
            <a:r>
              <a:rPr lang="uk-UA" sz="1800" dirty="0" err="1"/>
              <a:t>промокодами</a:t>
            </a:r>
            <a:r>
              <a:rPr lang="uk-UA" sz="1800" dirty="0"/>
              <a:t> і відгуками</a:t>
            </a:r>
            <a:br>
              <a:rPr lang="uk-UA" sz="1800" dirty="0"/>
            </a:br>
            <a:r>
              <a:rPr lang="en-US" sz="1800" dirty="0"/>
              <a:t>REST API </a:t>
            </a:r>
            <a:r>
              <a:rPr lang="uk-UA" sz="1800" dirty="0"/>
              <a:t>з </a:t>
            </a:r>
            <a:r>
              <a:rPr lang="en-US" sz="1800" dirty="0"/>
              <a:t>Swagger-</a:t>
            </a:r>
            <a:r>
              <a:rPr lang="uk-UA" sz="1800" dirty="0"/>
              <a:t>документацією для інтеграцій</a:t>
            </a:r>
            <a:br>
              <a:rPr lang="uk-UA" sz="1800" dirty="0"/>
            </a:br>
            <a:r>
              <a:rPr lang="uk-UA" sz="1800" dirty="0" err="1"/>
              <a:t>Адмін</a:t>
            </a:r>
            <a:r>
              <a:rPr lang="uk-UA" sz="1800" dirty="0"/>
              <a:t>-панель для управління товарами, замовленнями та акціями</a:t>
            </a:r>
            <a:br>
              <a:rPr lang="uk-UA" sz="1800" dirty="0"/>
            </a:br>
            <a:r>
              <a:rPr lang="uk-UA" sz="1800" dirty="0" err="1"/>
              <a:t>Контейнерізація</a:t>
            </a:r>
            <a:r>
              <a:rPr lang="uk-UA" sz="1800" dirty="0"/>
              <a:t> </a:t>
            </a:r>
            <a:r>
              <a:rPr lang="en-US" sz="1800" dirty="0"/>
              <a:t>Docker + </a:t>
            </a:r>
            <a:r>
              <a:rPr lang="uk-UA" sz="1800" dirty="0"/>
              <a:t>готовність до </a:t>
            </a:r>
            <a:r>
              <a:rPr lang="en-US" sz="1800" dirty="0"/>
              <a:t>cloud-</a:t>
            </a:r>
            <a:r>
              <a:rPr lang="uk-UA" sz="1800" dirty="0" err="1"/>
              <a:t>деплою</a:t>
            </a:r>
            <a:r>
              <a:rPr lang="uk-UA" sz="1800" dirty="0"/>
              <a:t> (</a:t>
            </a:r>
            <a:r>
              <a:rPr lang="en-US" sz="1800" dirty="0"/>
              <a:t>Render/AWS/</a:t>
            </a:r>
            <a:r>
              <a:rPr lang="en-US" sz="1800" dirty="0" err="1"/>
              <a:t>DigitalOcean</a:t>
            </a:r>
            <a:r>
              <a:rPr lang="en-US" sz="1800" dirty="0"/>
              <a:t>)</a:t>
            </a:r>
            <a:br>
              <a:rPr lang="uk-UA" sz="1800" dirty="0"/>
            </a:br>
            <a:r>
              <a:rPr lang="uk-UA" sz="1800" dirty="0"/>
              <a:t>Комплексна технічна документація та тестові скрипти</a:t>
            </a:r>
            <a:br>
              <a:rPr lang="uk-UA" sz="1800" dirty="0"/>
            </a:br>
            <a:br>
              <a:rPr lang="uk-UA" sz="1800" dirty="0"/>
            </a:br>
            <a:r>
              <a:rPr lang="uk-UA" sz="1800" dirty="0"/>
              <a:t>Здобуті навички:</a:t>
            </a:r>
            <a:br>
              <a:rPr lang="uk-UA" sz="1800" dirty="0"/>
            </a:br>
            <a:r>
              <a:rPr lang="en-US" sz="1800" dirty="0"/>
              <a:t>Backend-</a:t>
            </a:r>
            <a:r>
              <a:rPr lang="uk-UA" sz="1800" dirty="0"/>
              <a:t>розробка: </a:t>
            </a:r>
            <a:r>
              <a:rPr lang="en-US" sz="1800" dirty="0"/>
              <a:t>Flask, REST API, SQLite → PostgreSQL </a:t>
            </a:r>
            <a:r>
              <a:rPr lang="uk-UA" sz="1800" dirty="0"/>
              <a:t>міграція</a:t>
            </a:r>
            <a:br>
              <a:rPr lang="uk-UA" sz="1800" dirty="0"/>
            </a:br>
            <a:r>
              <a:rPr lang="en-US" sz="1800" dirty="0"/>
              <a:t>Frontend: Jinja2, Tailwind CSS, </a:t>
            </a:r>
            <a:r>
              <a:rPr lang="uk-UA" sz="1800" dirty="0"/>
              <a:t>адаптивний </a:t>
            </a:r>
            <a:r>
              <a:rPr lang="en-US" sz="1800" dirty="0"/>
              <a:t>UI</a:t>
            </a:r>
            <a:br>
              <a:rPr lang="uk-UA" sz="1800" dirty="0"/>
            </a:br>
            <a:r>
              <a:rPr lang="en-US" sz="1800" dirty="0"/>
              <a:t>DevOps: Docker, multi-stage builds, CI/CD </a:t>
            </a:r>
            <a:r>
              <a:rPr lang="uk-UA" sz="1800" dirty="0"/>
              <a:t>на </a:t>
            </a:r>
            <a:r>
              <a:rPr lang="en-US" sz="1800" dirty="0"/>
              <a:t>Render</a:t>
            </a:r>
            <a:br>
              <a:rPr lang="uk-UA" sz="1800" dirty="0"/>
            </a:br>
            <a:r>
              <a:rPr lang="uk-UA" sz="1800" dirty="0"/>
              <a:t>Безпека: </a:t>
            </a:r>
            <a:r>
              <a:rPr lang="uk-UA" sz="1800" dirty="0" err="1"/>
              <a:t>параметризовані</a:t>
            </a:r>
            <a:r>
              <a:rPr lang="uk-UA" sz="1800" dirty="0"/>
              <a:t> запити, </a:t>
            </a:r>
            <a:r>
              <a:rPr lang="uk-UA" sz="1800" dirty="0" err="1"/>
              <a:t>валідація</a:t>
            </a:r>
            <a:r>
              <a:rPr lang="uk-UA" sz="1800" dirty="0"/>
              <a:t>, .</a:t>
            </a:r>
            <a:r>
              <a:rPr lang="en-US" sz="1800" dirty="0"/>
              <a:t>env secrets</a:t>
            </a:r>
            <a:br>
              <a:rPr lang="uk-UA" sz="1800" dirty="0"/>
            </a:br>
            <a:r>
              <a:rPr lang="uk-UA" sz="1800" dirty="0" err="1"/>
              <a:t>Дебаг</a:t>
            </a:r>
            <a:r>
              <a:rPr lang="uk-UA" sz="1800" dirty="0"/>
              <a:t> і оптимізація: вирішення проблем із </a:t>
            </a:r>
            <a:r>
              <a:rPr lang="uk-UA" sz="1800" dirty="0" err="1"/>
              <a:t>залежностями</a:t>
            </a:r>
            <a:r>
              <a:rPr lang="uk-UA" sz="1800" dirty="0"/>
              <a:t>, контекстом збірки, продуктивністю</a:t>
            </a:r>
            <a:br>
              <a:rPr lang="uk-UA" sz="1800" dirty="0"/>
            </a:br>
            <a:br>
              <a:rPr lang="uk-UA" sz="1800" dirty="0"/>
            </a:br>
            <a:r>
              <a:rPr lang="uk-UA" sz="1800" dirty="0"/>
              <a:t>Ключові результати:</a:t>
            </a:r>
            <a:br>
              <a:rPr lang="uk-UA" sz="1800" dirty="0"/>
            </a:br>
            <a:r>
              <a:rPr lang="uk-UA" sz="1800" dirty="0"/>
              <a:t>Робочий </a:t>
            </a:r>
            <a:r>
              <a:rPr lang="en-US" sz="1800" dirty="0"/>
              <a:t>MVP </a:t>
            </a:r>
            <a:r>
              <a:rPr lang="uk-UA" sz="1800" dirty="0"/>
              <a:t>готовий до </a:t>
            </a:r>
            <a:r>
              <a:rPr lang="uk-UA" sz="1800" dirty="0" err="1"/>
              <a:t>демо</a:t>
            </a:r>
            <a:r>
              <a:rPr lang="uk-UA" sz="1800" dirty="0"/>
              <a:t> та комерційного використання</a:t>
            </a:r>
            <a:br>
              <a:rPr lang="uk-UA" sz="1800" dirty="0"/>
            </a:br>
            <a:r>
              <a:rPr lang="uk-UA" sz="1800" dirty="0"/>
              <a:t>Чиста архітектура, легко масштабувати та розширювати</a:t>
            </a:r>
            <a:br>
              <a:rPr lang="uk-UA" sz="1800" dirty="0"/>
            </a:br>
            <a:r>
              <a:rPr lang="uk-UA" sz="1800" dirty="0"/>
              <a:t>Публічне </a:t>
            </a:r>
            <a:r>
              <a:rPr lang="en-US" sz="1800" dirty="0"/>
              <a:t>API </a:t>
            </a:r>
            <a:r>
              <a:rPr lang="uk-UA" sz="1800" dirty="0"/>
              <a:t>дозволяє інтеграції з мобільними застосунками/партнерами</a:t>
            </a:r>
            <a:br>
              <a:rPr lang="uk-UA" sz="1800" dirty="0"/>
            </a:br>
            <a:r>
              <a:rPr lang="uk-UA" sz="1800" dirty="0"/>
              <a:t>Досвід роботи з повним циклом веб-розробки — від ідеї до </a:t>
            </a:r>
            <a:r>
              <a:rPr lang="uk-UA" sz="1800" dirty="0" err="1"/>
              <a:t>деплою</a:t>
            </a:r>
            <a:endParaRPr lang="uk-UA" sz="1800" dirty="0"/>
          </a:p>
        </p:txBody>
      </p:sp>
    </p:spTree>
    <p:extLst>
      <p:ext uri="{BB962C8B-B14F-4D97-AF65-F5344CB8AC3E}">
        <p14:creationId xmlns:p14="http://schemas.microsoft.com/office/powerpoint/2010/main" val="2735793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0BE577-4D95-8F11-6855-5575FBAB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712" y="3429000"/>
            <a:ext cx="9634538" cy="1325563"/>
          </a:xfrm>
        </p:spPr>
        <p:txBody>
          <a:bodyPr>
            <a:noAutofit/>
          </a:bodyPr>
          <a:lstStyle/>
          <a:p>
            <a:r>
              <a:rPr lang="uk-UA" sz="9600" b="1" dirty="0"/>
              <a:t>Дякую за увагу!</a:t>
            </a:r>
            <a:br>
              <a:rPr lang="uk-UA" sz="9600" dirty="0"/>
            </a:br>
            <a:endParaRPr lang="uk-UA" sz="9600" dirty="0"/>
          </a:p>
        </p:txBody>
      </p:sp>
    </p:spTree>
    <p:extLst>
      <p:ext uri="{BB962C8B-B14F-4D97-AF65-F5344CB8AC3E}">
        <p14:creationId xmlns:p14="http://schemas.microsoft.com/office/powerpoint/2010/main" val="38453249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2041</Words>
  <Application>Microsoft Office PowerPoint</Application>
  <PresentationFormat>Широкий екран</PresentationFormat>
  <Paragraphs>165</Paragraphs>
  <Slides>16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Тема Office</vt:lpstr>
      <vt:lpstr>Інтернет магазин “Etkaroz”</vt:lpstr>
      <vt:lpstr>Огляд    проблеми </vt:lpstr>
      <vt:lpstr>Рішення</vt:lpstr>
      <vt:lpstr>Технологічний стек </vt:lpstr>
      <vt:lpstr>Архітектура системи</vt:lpstr>
      <vt:lpstr>Функціонал</vt:lpstr>
      <vt:lpstr>Скріни з сайту</vt:lpstr>
      <vt:lpstr>Нові функції</vt:lpstr>
      <vt:lpstr>Структура бази даних</vt:lpstr>
      <vt:lpstr>API Endpoints</vt:lpstr>
      <vt:lpstr>Технічні виклики</vt:lpstr>
      <vt:lpstr>Цікаві технічні рішення</vt:lpstr>
      <vt:lpstr>Демонстрація</vt:lpstr>
      <vt:lpstr>Можливості розвитку </vt:lpstr>
      <vt:lpstr>Висновок</vt:lpstr>
      <vt:lpstr>Дякую за увагу!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Максим Кучерук</dc:creator>
  <cp:lastModifiedBy>Максим Кучерук</cp:lastModifiedBy>
  <cp:revision>1</cp:revision>
  <dcterms:created xsi:type="dcterms:W3CDTF">2025-12-14T17:24:18Z</dcterms:created>
  <dcterms:modified xsi:type="dcterms:W3CDTF">2025-12-14T18:06:33Z</dcterms:modified>
</cp:coreProperties>
</file>